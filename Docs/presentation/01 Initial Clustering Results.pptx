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8" r:id="rId2"/>
    <p:sldId id="287" r:id="rId3"/>
    <p:sldId id="288" r:id="rId4"/>
    <p:sldId id="289" r:id="rId5"/>
    <p:sldId id="290" r:id="rId6"/>
    <p:sldId id="291" r:id="rId7"/>
    <p:sldId id="292" r:id="rId8"/>
    <p:sldId id="295" r:id="rId9"/>
    <p:sldId id="293" r:id="rId10"/>
    <p:sldId id="296" r:id="rId11"/>
    <p:sldId id="297" r:id="rId12"/>
    <p:sldId id="298" r:id="rId13"/>
    <p:sldId id="299" r:id="rId14"/>
    <p:sldId id="300" r:id="rId15"/>
    <p:sldId id="301" r:id="rId16"/>
    <p:sldId id="30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1A92AC-7FFA-4D64-A764-2D4FDECC35ED}" type="datetimeFigureOut">
              <a:rPr lang="en-CA" smtClean="0"/>
              <a:t>2026-07-07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665A9-1EB6-4845-88FF-5C5B774D6F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4482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9FCF95-AB37-4745-BDAF-410E83D2555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7440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100000">
              <a:schemeClr val="tx1"/>
            </a:gs>
            <a:gs pos="0">
              <a:srgbClr val="6657F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purple background&#10;&#10;AI-generated content may be incorrect.">
            <a:extLst>
              <a:ext uri="{FF2B5EF4-FFF2-40B4-BE49-F238E27FC236}">
                <a16:creationId xmlns:a16="http://schemas.microsoft.com/office/drawing/2014/main" id="{A759F186-81B6-2126-E288-EE6F3F753B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7173E5F-C851-FF59-FAA9-F512546752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5012" y="4804363"/>
            <a:ext cx="5729421" cy="1133061"/>
          </a:xfrm>
        </p:spPr>
        <p:txBody>
          <a:bodyPr>
            <a:normAutofit/>
          </a:bodyPr>
          <a:lstStyle>
            <a:lvl1pPr marL="0" indent="0" algn="l">
              <a:buNone/>
              <a:defRPr sz="2000" spc="3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SUBHEADLINE HERE ALL CAPS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61947A4-1FCB-6EED-1F57-56F36A810C57}"/>
              </a:ext>
            </a:extLst>
          </p:cNvPr>
          <p:cNvGrpSpPr/>
          <p:nvPr userDrawn="1"/>
        </p:nvGrpSpPr>
        <p:grpSpPr>
          <a:xfrm>
            <a:off x="1005013" y="1002993"/>
            <a:ext cx="3289172" cy="467684"/>
            <a:chOff x="857250" y="724348"/>
            <a:chExt cx="4917722" cy="699247"/>
          </a:xfrm>
          <a:solidFill>
            <a:schemeClr val="bg1"/>
          </a:solidFill>
        </p:grpSpPr>
        <p:pic>
          <p:nvPicPr>
            <p:cNvPr id="15" name="Picture 3">
              <a:extLst>
                <a:ext uri="{FF2B5EF4-FFF2-40B4-BE49-F238E27FC236}">
                  <a16:creationId xmlns:a16="http://schemas.microsoft.com/office/drawing/2014/main" id="{3424B5DE-4FC6-0ECF-5278-A28DC4198C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EECEC53-ACFE-2ECD-040F-38463CBDD6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8FFC150-1FD8-CE19-3783-7974604CF5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79FADC-3C7E-6A14-75A0-BA9B376521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012" y="1801987"/>
            <a:ext cx="5729421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 </a:t>
            </a:r>
            <a:br>
              <a:rPr lang="en-US" dirty="0"/>
            </a:br>
            <a:r>
              <a:rPr lang="en-US" dirty="0"/>
              <a:t>Initial Caps</a:t>
            </a:r>
          </a:p>
        </p:txBody>
      </p:sp>
    </p:spTree>
    <p:extLst>
      <p:ext uri="{BB962C8B-B14F-4D97-AF65-F5344CB8AC3E}">
        <p14:creationId xmlns:p14="http://schemas.microsoft.com/office/powerpoint/2010/main" val="465335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gradFill>
          <a:gsLst>
            <a:gs pos="100000">
              <a:schemeClr val="tx1"/>
            </a:gs>
            <a:gs pos="0">
              <a:srgbClr val="6657F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background with many squares&#10;&#10;AI-generated content may be incorrect.">
            <a:extLst>
              <a:ext uri="{FF2B5EF4-FFF2-40B4-BE49-F238E27FC236}">
                <a16:creationId xmlns:a16="http://schemas.microsoft.com/office/drawing/2014/main" id="{D72CE1B0-B76B-F3E3-37B7-FAD2B77242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7173E5F-C851-FF59-FAA9-F512546752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5012" y="4804363"/>
            <a:ext cx="5729421" cy="1133061"/>
          </a:xfrm>
        </p:spPr>
        <p:txBody>
          <a:bodyPr>
            <a:normAutofit/>
          </a:bodyPr>
          <a:lstStyle>
            <a:lvl1pPr marL="0" indent="0" algn="l">
              <a:buNone/>
              <a:defRPr sz="2000" spc="3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SUBHEADLINE HERE ALL CAPS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61947A4-1FCB-6EED-1F57-56F36A810C57}"/>
              </a:ext>
            </a:extLst>
          </p:cNvPr>
          <p:cNvGrpSpPr/>
          <p:nvPr userDrawn="1"/>
        </p:nvGrpSpPr>
        <p:grpSpPr>
          <a:xfrm>
            <a:off x="1005013" y="1002993"/>
            <a:ext cx="3289172" cy="467684"/>
            <a:chOff x="857250" y="724348"/>
            <a:chExt cx="4917722" cy="699247"/>
          </a:xfrm>
          <a:solidFill>
            <a:schemeClr val="bg1"/>
          </a:solidFill>
        </p:grpSpPr>
        <p:pic>
          <p:nvPicPr>
            <p:cNvPr id="15" name="Picture 3">
              <a:extLst>
                <a:ext uri="{FF2B5EF4-FFF2-40B4-BE49-F238E27FC236}">
                  <a16:creationId xmlns:a16="http://schemas.microsoft.com/office/drawing/2014/main" id="{3424B5DE-4FC6-0ECF-5278-A28DC4198C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EECEC53-ACFE-2ECD-040F-38463CBDD6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8FFC150-1FD8-CE19-3783-7974604CF5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79FADC-3C7E-6A14-75A0-BA9B376521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012" y="1801987"/>
            <a:ext cx="5729421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 </a:t>
            </a:r>
            <a:br>
              <a:rPr lang="en-US" dirty="0"/>
            </a:br>
            <a:r>
              <a:rPr lang="en-US" dirty="0"/>
              <a:t>Initial Caps</a:t>
            </a:r>
          </a:p>
        </p:txBody>
      </p:sp>
    </p:spTree>
    <p:extLst>
      <p:ext uri="{BB962C8B-B14F-4D97-AF65-F5344CB8AC3E}">
        <p14:creationId xmlns:p14="http://schemas.microsoft.com/office/powerpoint/2010/main" val="4202183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gradFill>
          <a:gsLst>
            <a:gs pos="100000">
              <a:schemeClr val="tx1"/>
            </a:gs>
            <a:gs pos="0">
              <a:srgbClr val="6657F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0C6336BB-3C0C-0FE8-A288-99F49F927661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7173E5F-C851-FF59-FAA9-F512546752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5012" y="4804363"/>
            <a:ext cx="5729421" cy="1133061"/>
          </a:xfrm>
        </p:spPr>
        <p:txBody>
          <a:bodyPr>
            <a:normAutofit/>
          </a:bodyPr>
          <a:lstStyle>
            <a:lvl1pPr marL="0" indent="0" algn="l">
              <a:buNone/>
              <a:defRPr sz="2000" spc="3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SUBHEADLINE HERE ALL CAPS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61947A4-1FCB-6EED-1F57-56F36A810C57}"/>
              </a:ext>
            </a:extLst>
          </p:cNvPr>
          <p:cNvGrpSpPr/>
          <p:nvPr userDrawn="1"/>
        </p:nvGrpSpPr>
        <p:grpSpPr>
          <a:xfrm>
            <a:off x="1005013" y="1002993"/>
            <a:ext cx="3289172" cy="467684"/>
            <a:chOff x="857250" y="724348"/>
            <a:chExt cx="4917722" cy="699247"/>
          </a:xfrm>
          <a:solidFill>
            <a:schemeClr val="bg1"/>
          </a:solidFill>
        </p:grpSpPr>
        <p:pic>
          <p:nvPicPr>
            <p:cNvPr id="15" name="Picture 3">
              <a:extLst>
                <a:ext uri="{FF2B5EF4-FFF2-40B4-BE49-F238E27FC236}">
                  <a16:creationId xmlns:a16="http://schemas.microsoft.com/office/drawing/2014/main" id="{3424B5DE-4FC6-0ECF-5278-A28DC4198C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EECEC53-ACFE-2ECD-040F-38463CBDD6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8FFC150-1FD8-CE19-3783-7974604CF5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79FADC-3C7E-6A14-75A0-BA9B376521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012" y="1801987"/>
            <a:ext cx="5729421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 </a:t>
            </a:r>
            <a:br>
              <a:rPr lang="en-US" dirty="0"/>
            </a:br>
            <a:r>
              <a:rPr lang="en-US" dirty="0"/>
              <a:t>Initial Caps</a:t>
            </a:r>
          </a:p>
        </p:txBody>
      </p:sp>
    </p:spTree>
    <p:extLst>
      <p:ext uri="{BB962C8B-B14F-4D97-AF65-F5344CB8AC3E}">
        <p14:creationId xmlns:p14="http://schemas.microsoft.com/office/powerpoint/2010/main" val="1233032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gradFill>
          <a:gsLst>
            <a:gs pos="0">
              <a:srgbClr val="402C85"/>
            </a:gs>
            <a:gs pos="100000">
              <a:srgbClr val="6657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hexagons&#10;&#10;AI-generated content may be incorrect.">
            <a:extLst>
              <a:ext uri="{FF2B5EF4-FFF2-40B4-BE49-F238E27FC236}">
                <a16:creationId xmlns:a16="http://schemas.microsoft.com/office/drawing/2014/main" id="{86D32DC1-6F53-94F2-038C-A75C6E0AEEA2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79FADC-3C7E-6A14-75A0-BA9B376521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6845" y="1884363"/>
            <a:ext cx="6047872" cy="2387600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4944D-DF6F-78FF-A095-E9761392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6630AC-9E37-E65E-4305-5EFFB75250E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397882"/>
            <a:ext cx="1479101" cy="210312"/>
            <a:chOff x="857250" y="724348"/>
            <a:chExt cx="4917722" cy="699247"/>
          </a:xfrm>
          <a:solidFill>
            <a:schemeClr val="bg1"/>
          </a:solidFill>
        </p:grpSpPr>
        <p:pic>
          <p:nvPicPr>
            <p:cNvPr id="26" name="Picture 3">
              <a:extLst>
                <a:ext uri="{FF2B5EF4-FFF2-40B4-BE49-F238E27FC236}">
                  <a16:creationId xmlns:a16="http://schemas.microsoft.com/office/drawing/2014/main" id="{36D03255-3955-E32E-D5A1-E160C77BDD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7E817964-BA26-841B-00BF-E2F5212E9A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B17EFD-1407-9E51-CE30-5650BA4B570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1625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bg>
      <p:bgPr>
        <a:gradFill>
          <a:gsLst>
            <a:gs pos="0">
              <a:srgbClr val="402C85"/>
            </a:gs>
            <a:gs pos="100000">
              <a:srgbClr val="6657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hexagons on a purple background&#10;&#10;AI-generated content may be incorrect.">
            <a:extLst>
              <a:ext uri="{FF2B5EF4-FFF2-40B4-BE49-F238E27FC236}">
                <a16:creationId xmlns:a16="http://schemas.microsoft.com/office/drawing/2014/main" id="{F94BD40A-D9EA-13AF-B9B6-26315CACE2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79FADC-3C7E-6A14-75A0-BA9B376521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6845" y="1884363"/>
            <a:ext cx="6047872" cy="2387600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Slide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4944D-DF6F-78FF-A095-E9761392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6630AC-9E37-E65E-4305-5EFFB75250E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7294" y="6433757"/>
            <a:ext cx="1479101" cy="210312"/>
            <a:chOff x="857250" y="724348"/>
            <a:chExt cx="4917722" cy="699247"/>
          </a:xfrm>
          <a:solidFill>
            <a:schemeClr val="bg1"/>
          </a:solidFill>
        </p:grpSpPr>
        <p:pic>
          <p:nvPicPr>
            <p:cNvPr id="26" name="Picture 3">
              <a:extLst>
                <a:ext uri="{FF2B5EF4-FFF2-40B4-BE49-F238E27FC236}">
                  <a16:creationId xmlns:a16="http://schemas.microsoft.com/office/drawing/2014/main" id="{36D03255-3955-E32E-D5A1-E160C77BDD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7E817964-BA26-841B-00BF-E2F5212E9A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B17EFD-1407-9E51-CE30-5650BA4B570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8580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">
    <p:bg>
      <p:bgPr>
        <a:gradFill>
          <a:gsLst>
            <a:gs pos="0">
              <a:srgbClr val="402C85"/>
            </a:gs>
            <a:gs pos="100000">
              <a:srgbClr val="6657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hexagons on a blue background&#10;&#10;AI-generated content may be incorrect.">
            <a:extLst>
              <a:ext uri="{FF2B5EF4-FFF2-40B4-BE49-F238E27FC236}">
                <a16:creationId xmlns:a16="http://schemas.microsoft.com/office/drawing/2014/main" id="{1D7E32B6-6365-DE2F-987E-BCE3567B9F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79FADC-3C7E-6A14-75A0-BA9B376521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6845" y="1884363"/>
            <a:ext cx="6047872" cy="2387600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Slide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4944D-DF6F-78FF-A095-E9761392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6630AC-9E37-E65E-4305-5EFFB75250E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7294" y="6433757"/>
            <a:ext cx="1479101" cy="210312"/>
            <a:chOff x="857250" y="724348"/>
            <a:chExt cx="4917722" cy="699247"/>
          </a:xfrm>
          <a:solidFill>
            <a:schemeClr val="bg1"/>
          </a:solidFill>
        </p:grpSpPr>
        <p:pic>
          <p:nvPicPr>
            <p:cNvPr id="26" name="Picture 3">
              <a:extLst>
                <a:ext uri="{FF2B5EF4-FFF2-40B4-BE49-F238E27FC236}">
                  <a16:creationId xmlns:a16="http://schemas.microsoft.com/office/drawing/2014/main" id="{36D03255-3955-E32E-D5A1-E160C77BDD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7E817964-BA26-841B-00BF-E2F5212E9A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B17EFD-1407-9E51-CE30-5650BA4B570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86128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">
    <p:bg>
      <p:bgPr>
        <a:gradFill>
          <a:gsLst>
            <a:gs pos="0">
              <a:srgbClr val="402C85"/>
            </a:gs>
            <a:gs pos="100000">
              <a:srgbClr val="6657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4944D-DF6F-78FF-A095-E9761392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5634F2-65A4-04E0-7104-72DA3E839A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"/>
            <a:ext cx="12192000" cy="685681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87CC326-7CED-0BBF-E65E-8A7BEADB06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6845" y="1884363"/>
            <a:ext cx="6047872" cy="2387600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Slide Title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DFC51A6-9FB9-8858-604D-E8779F547CD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7294" y="6433757"/>
            <a:ext cx="1479101" cy="210312"/>
            <a:chOff x="857250" y="724348"/>
            <a:chExt cx="4917722" cy="699247"/>
          </a:xfrm>
          <a:solidFill>
            <a:schemeClr val="bg1"/>
          </a:solidFill>
        </p:grpSpPr>
        <p:pic>
          <p:nvPicPr>
            <p:cNvPr id="10" name="Picture 3">
              <a:extLst>
                <a:ext uri="{FF2B5EF4-FFF2-40B4-BE49-F238E27FC236}">
                  <a16:creationId xmlns:a16="http://schemas.microsoft.com/office/drawing/2014/main" id="{1A6CF2B5-53C2-D99D-A222-BE9D35104A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E817CD20-2F3A-5C64-B074-DFF3F4F206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B287FAF-B143-D7AE-9CF3-BFFC365D02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192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100000">
              <a:schemeClr val="tx1"/>
            </a:gs>
            <a:gs pos="0">
              <a:srgbClr val="6657F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background with white dots&#10;&#10;AI-generated content may be incorrect.">
            <a:extLst>
              <a:ext uri="{FF2B5EF4-FFF2-40B4-BE49-F238E27FC236}">
                <a16:creationId xmlns:a16="http://schemas.microsoft.com/office/drawing/2014/main" id="{26E692FB-41CF-67CC-389B-7B109816A0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688C510-3003-FDCC-24BA-C05ACE2BFA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6845" y="1884363"/>
            <a:ext cx="6047872" cy="2387600"/>
          </a:xfrm>
        </p:spPr>
        <p:txBody>
          <a:bodyPr anchor="b"/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Slide 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A2786-58C7-6FB3-227B-F7BE648A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1616" y="6492875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DB9B1F0-3D23-ED65-4393-E8E0460F4C3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7294" y="6433757"/>
            <a:ext cx="1479101" cy="210312"/>
            <a:chOff x="857250" y="724348"/>
            <a:chExt cx="4917722" cy="699247"/>
          </a:xfrm>
          <a:solidFill>
            <a:schemeClr val="bg1"/>
          </a:solidFill>
        </p:grpSpPr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38EA9D5A-9436-EF94-1016-BA00E5BF6E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0EF1878B-F6C5-7CC6-F499-AAC9E62DC4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CD93050-D453-F7A5-F48E-EE92D2BE1F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7696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0">
              <a:schemeClr val="bg1"/>
            </a:gs>
            <a:gs pos="100000">
              <a:srgbClr val="EDF0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3112C-3356-9E5F-7184-9E771E8A7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E58C8-A883-65E6-4863-1903363D1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AB892A-BE29-E0DA-B2A6-1D6F332DBCF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D34C0431-0257-E9CE-7E7C-117F00B8C3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93F8AD1-E613-C230-7F8A-0D1B342524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2A112A9-578E-23AB-57AA-3AD1D1B278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Snip Same Side Corner Rectangle 10">
            <a:extLst>
              <a:ext uri="{FF2B5EF4-FFF2-40B4-BE49-F238E27FC236}">
                <a16:creationId xmlns:a16="http://schemas.microsoft.com/office/drawing/2014/main" id="{22FD27D9-8817-2C18-16B4-6A260775BA64}"/>
              </a:ext>
            </a:extLst>
          </p:cNvPr>
          <p:cNvSpPr/>
          <p:nvPr userDrawn="1"/>
        </p:nvSpPr>
        <p:spPr>
          <a:xfrm rot="5400000">
            <a:off x="-2696843" y="3288251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2" name="Snip Same Side Corner Rectangle 11">
            <a:extLst>
              <a:ext uri="{FF2B5EF4-FFF2-40B4-BE49-F238E27FC236}">
                <a16:creationId xmlns:a16="http://schemas.microsoft.com/office/drawing/2014/main" id="{485CB6FE-9BBF-4023-BB00-E9A0F07822D7}"/>
              </a:ext>
            </a:extLst>
          </p:cNvPr>
          <p:cNvSpPr/>
          <p:nvPr userDrawn="1"/>
        </p:nvSpPr>
        <p:spPr>
          <a:xfrm rot="16200000">
            <a:off x="9217255" y="3288252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1554FF7-E7D7-7AC0-D4C7-6DCFBBC38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598" cy="42703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6645CAA-0AF8-CA92-D158-B91E0FF61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9074"/>
            <a:ext cx="105156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</p:spTree>
    <p:extLst>
      <p:ext uri="{BB962C8B-B14F-4D97-AF65-F5344CB8AC3E}">
        <p14:creationId xmlns:p14="http://schemas.microsoft.com/office/powerpoint/2010/main" val="230427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gradFill>
          <a:gsLst>
            <a:gs pos="0">
              <a:schemeClr val="bg1"/>
            </a:gs>
            <a:gs pos="100000">
              <a:srgbClr val="EDF0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3112C-3356-9E5F-7184-9E771E8A7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E58C8-A883-65E6-4863-1903363D1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AB892A-BE29-E0DA-B2A6-1D6F332DBCF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D34C0431-0257-E9CE-7E7C-117F00B8C3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93F8AD1-E613-C230-7F8A-0D1B342524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2A112A9-578E-23AB-57AA-3AD1D1B278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Snip Same Side Corner Rectangle 10">
            <a:extLst>
              <a:ext uri="{FF2B5EF4-FFF2-40B4-BE49-F238E27FC236}">
                <a16:creationId xmlns:a16="http://schemas.microsoft.com/office/drawing/2014/main" id="{22FD27D9-8817-2C18-16B4-6A260775BA64}"/>
              </a:ext>
            </a:extLst>
          </p:cNvPr>
          <p:cNvSpPr/>
          <p:nvPr userDrawn="1"/>
        </p:nvSpPr>
        <p:spPr>
          <a:xfrm rot="5400000">
            <a:off x="-2696843" y="3288251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chemeClr val="bg2">
                  <a:lumMod val="25000"/>
                </a:schemeClr>
              </a:gs>
              <a:gs pos="0">
                <a:schemeClr val="bg2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2" name="Snip Same Side Corner Rectangle 11">
            <a:extLst>
              <a:ext uri="{FF2B5EF4-FFF2-40B4-BE49-F238E27FC236}">
                <a16:creationId xmlns:a16="http://schemas.microsoft.com/office/drawing/2014/main" id="{485CB6FE-9BBF-4023-BB00-E9A0F07822D7}"/>
              </a:ext>
            </a:extLst>
          </p:cNvPr>
          <p:cNvSpPr/>
          <p:nvPr userDrawn="1"/>
        </p:nvSpPr>
        <p:spPr>
          <a:xfrm rot="16200000">
            <a:off x="9217255" y="3288252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chemeClr val="bg2">
                  <a:lumMod val="25000"/>
                </a:schemeClr>
              </a:gs>
              <a:gs pos="0">
                <a:schemeClr val="bg2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1554FF7-E7D7-7AC0-D4C7-6DCFBBC38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598" cy="42703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6645CAA-0AF8-CA92-D158-B91E0FF61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9074"/>
            <a:ext cx="105156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</p:spTree>
    <p:extLst>
      <p:ext uri="{BB962C8B-B14F-4D97-AF65-F5344CB8AC3E}">
        <p14:creationId xmlns:p14="http://schemas.microsoft.com/office/powerpoint/2010/main" val="2336751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gradFill>
          <a:gsLst>
            <a:gs pos="0">
              <a:schemeClr val="bg1"/>
            </a:gs>
            <a:gs pos="100000">
              <a:srgbClr val="EDF0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nip Same Side Corner Rectangle 16">
            <a:extLst>
              <a:ext uri="{FF2B5EF4-FFF2-40B4-BE49-F238E27FC236}">
                <a16:creationId xmlns:a16="http://schemas.microsoft.com/office/drawing/2014/main" id="{07C315A4-955B-3FAA-7837-09498FE4D9E8}"/>
              </a:ext>
            </a:extLst>
          </p:cNvPr>
          <p:cNvSpPr/>
          <p:nvPr userDrawn="1"/>
        </p:nvSpPr>
        <p:spPr>
          <a:xfrm rot="5400000">
            <a:off x="-2696843" y="3288251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8" name="Snip Same Side Corner Rectangle 17">
            <a:extLst>
              <a:ext uri="{FF2B5EF4-FFF2-40B4-BE49-F238E27FC236}">
                <a16:creationId xmlns:a16="http://schemas.microsoft.com/office/drawing/2014/main" id="{E3AB2FF8-0979-3B4A-6575-695718CCEFFA}"/>
              </a:ext>
            </a:extLst>
          </p:cNvPr>
          <p:cNvSpPr/>
          <p:nvPr userDrawn="1"/>
        </p:nvSpPr>
        <p:spPr>
          <a:xfrm rot="16200000">
            <a:off x="9217255" y="3288252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BC787D2-0F5C-4F39-3BFD-42B1F4F04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52999" cy="42703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0B66E2F-958A-3881-2B76-19BADC60EBC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00800" y="1825625"/>
            <a:ext cx="4952999" cy="42703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AE5788-D282-58CB-B95B-66BBA0CC1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9074"/>
            <a:ext cx="105156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047AF69-B53C-CCC0-BB58-3F09477F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13BC2D2-88A3-94EC-DA4E-DB15645BC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C5FA62-55FD-6C40-64A6-811685D94DF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ECB6D728-F137-DB6E-E2D6-34F3E315FA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658CB90E-9C05-B7B6-785A-6CF0608453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F6264A7-9785-AD3E-F910-56E0E000FB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6059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wo Content">
    <p:bg>
      <p:bgPr>
        <a:gradFill>
          <a:gsLst>
            <a:gs pos="0">
              <a:schemeClr val="bg1"/>
            </a:gs>
            <a:gs pos="100000">
              <a:srgbClr val="EDF0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41A4D-D33A-A03B-0EEB-9184784D7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90687"/>
            <a:ext cx="4951411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E0F96-75AA-0F96-B952-68016AB40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70205"/>
            <a:ext cx="4951410" cy="352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Snip Same Side Corner Rectangle 13">
            <a:extLst>
              <a:ext uri="{FF2B5EF4-FFF2-40B4-BE49-F238E27FC236}">
                <a16:creationId xmlns:a16="http://schemas.microsoft.com/office/drawing/2014/main" id="{39818D5C-C535-41D9-1794-74D23156D30E}"/>
              </a:ext>
            </a:extLst>
          </p:cNvPr>
          <p:cNvSpPr/>
          <p:nvPr userDrawn="1"/>
        </p:nvSpPr>
        <p:spPr>
          <a:xfrm rot="5400000">
            <a:off x="-2696843" y="3288251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5" name="Snip Same Side Corner Rectangle 14">
            <a:extLst>
              <a:ext uri="{FF2B5EF4-FFF2-40B4-BE49-F238E27FC236}">
                <a16:creationId xmlns:a16="http://schemas.microsoft.com/office/drawing/2014/main" id="{4D443125-1EB2-7FC4-601C-FA3A34E0DF9F}"/>
              </a:ext>
            </a:extLst>
          </p:cNvPr>
          <p:cNvSpPr/>
          <p:nvPr userDrawn="1"/>
        </p:nvSpPr>
        <p:spPr>
          <a:xfrm rot="16200000">
            <a:off x="9217255" y="3288252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5D28F48-A58C-0431-FFF6-A50D2A0CCB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397309" y="1690687"/>
            <a:ext cx="4951411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000A3A5-7E28-AD38-3694-378DE057CB0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97310" y="2570205"/>
            <a:ext cx="4951410" cy="352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60A222-73C9-97E5-DD31-27DACE1895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9074"/>
            <a:ext cx="105156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40ADD-C98F-84A9-7E73-93EC0F3D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B08EE-BFAD-A706-C067-7B1243ED2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6315326-457A-E2B9-D864-9F9801B8E42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16" name="Picture 3">
              <a:extLst>
                <a:ext uri="{FF2B5EF4-FFF2-40B4-BE49-F238E27FC236}">
                  <a16:creationId xmlns:a16="http://schemas.microsoft.com/office/drawing/2014/main" id="{09EFB2CC-235E-FC22-4763-493BB78C5E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D3F32747-FF1C-1846-14E8-9882CFDAAC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E56877B-4D4D-FE29-699B-2847EA8468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0712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gradFill>
          <a:gsLst>
            <a:gs pos="0">
              <a:schemeClr val="bg1"/>
            </a:gs>
            <a:gs pos="100000">
              <a:srgbClr val="EDF0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322A5-0F15-4DB5-A270-9B98C2C90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3136898" cy="42703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Snip Same Side Corner Rectangle 16">
            <a:extLst>
              <a:ext uri="{FF2B5EF4-FFF2-40B4-BE49-F238E27FC236}">
                <a16:creationId xmlns:a16="http://schemas.microsoft.com/office/drawing/2014/main" id="{07C315A4-955B-3FAA-7837-09498FE4D9E8}"/>
              </a:ext>
            </a:extLst>
          </p:cNvPr>
          <p:cNvSpPr/>
          <p:nvPr userDrawn="1"/>
        </p:nvSpPr>
        <p:spPr>
          <a:xfrm rot="5400000">
            <a:off x="-2696843" y="3288251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8" name="Snip Same Side Corner Rectangle 17">
            <a:extLst>
              <a:ext uri="{FF2B5EF4-FFF2-40B4-BE49-F238E27FC236}">
                <a16:creationId xmlns:a16="http://schemas.microsoft.com/office/drawing/2014/main" id="{E3AB2FF8-0979-3B4A-6575-695718CCEFFA}"/>
              </a:ext>
            </a:extLst>
          </p:cNvPr>
          <p:cNvSpPr/>
          <p:nvPr userDrawn="1"/>
        </p:nvSpPr>
        <p:spPr>
          <a:xfrm rot="16200000">
            <a:off x="9217255" y="3288252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8F4533A-4E37-7FE5-879D-C885EBFFAFD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33901" y="1825625"/>
            <a:ext cx="3136898" cy="42703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39AFE4B-A8AE-D996-7C41-040D171B5F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16901" y="1825625"/>
            <a:ext cx="3136898" cy="42703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E9446E-2DBE-72C1-8649-9BAA6D46A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9074"/>
            <a:ext cx="105156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6B4F265-19CB-2815-FAD8-EE84A816A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3029BE1-0450-9EC3-0263-83505BF29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C4F267-7D38-B273-00EB-E9A3F50BF49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3662B8BC-421E-985C-1FA0-69FD065678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DCDB3355-A57C-7490-0512-E096010FDB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556C29A-89CC-06D7-2CD8-E4E363699E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460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 Right">
    <p:bg>
      <p:bgPr>
        <a:gradFill>
          <a:gsLst>
            <a:gs pos="0">
              <a:schemeClr val="bg1"/>
            </a:gs>
            <a:gs pos="100000">
              <a:srgbClr val="EDF0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8D6684C-7DAE-5984-CE07-82A89C80E98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0401" y="0"/>
            <a:ext cx="5740399" cy="6858000"/>
          </a:xfrm>
          <a:prstGeom prst="snip2DiagRect">
            <a:avLst>
              <a:gd name="adj1" fmla="val 0"/>
              <a:gd name="adj2" fmla="val 7598"/>
            </a:avLst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322A5-0F15-4DB5-A270-9B98C2C90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3513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Snip Same Side Corner Rectangle 16">
            <a:extLst>
              <a:ext uri="{FF2B5EF4-FFF2-40B4-BE49-F238E27FC236}">
                <a16:creationId xmlns:a16="http://schemas.microsoft.com/office/drawing/2014/main" id="{07C315A4-955B-3FAA-7837-09498FE4D9E8}"/>
              </a:ext>
            </a:extLst>
          </p:cNvPr>
          <p:cNvSpPr/>
          <p:nvPr userDrawn="1"/>
        </p:nvSpPr>
        <p:spPr>
          <a:xfrm rot="5400000">
            <a:off x="-2696843" y="3288251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0F1D5-2FFB-54D4-2501-9673F22552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489074"/>
            <a:ext cx="57404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4DE1C5E-83B6-2862-1F9D-3C1949681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5016" y="6493087"/>
            <a:ext cx="346835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5DAAB-4F0E-3CEB-A82C-1DC17ADC8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13340" y="6493087"/>
            <a:ext cx="44304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17C370F-4C3B-0EED-6C85-0DDA7AD9912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BB551584-D268-E3D4-8C0B-19BF4839C0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E2F0D9DA-5384-C973-7AC2-05E118BA7D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50A4788-81B4-3925-D3FE-191AB36778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2506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hoto Right">
    <p:bg>
      <p:bgPr>
        <a:gradFill>
          <a:gsLst>
            <a:gs pos="0">
              <a:schemeClr val="bg1"/>
            </a:gs>
            <a:gs pos="100000">
              <a:srgbClr val="EDF0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8D6684C-7DAE-5984-CE07-82A89C80E98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0401" y="0"/>
            <a:ext cx="5740399" cy="6858000"/>
          </a:xfrm>
          <a:prstGeom prst="snip2DiagRect">
            <a:avLst>
              <a:gd name="adj1" fmla="val 0"/>
              <a:gd name="adj2" fmla="val 7598"/>
            </a:avLst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322A5-0F15-4DB5-A270-9B98C2C90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3513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0F1D5-2FFB-54D4-2501-9673F22552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489074"/>
            <a:ext cx="57404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4DE1C5E-83B6-2862-1F9D-3C1949681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5016" y="6493087"/>
            <a:ext cx="346835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5DAAB-4F0E-3CEB-A82C-1DC17ADC8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13340" y="6493087"/>
            <a:ext cx="44304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17C370F-4C3B-0EED-6C85-0DDA7AD9912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BB551584-D268-E3D4-8C0B-19BF4839C0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E2F0D9DA-5384-C973-7AC2-05E118BA7D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50A4788-81B4-3925-D3FE-191AB36778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Snip Same Side Corner Rectangle 10">
            <a:extLst>
              <a:ext uri="{FF2B5EF4-FFF2-40B4-BE49-F238E27FC236}">
                <a16:creationId xmlns:a16="http://schemas.microsoft.com/office/drawing/2014/main" id="{8E1ECA9E-BAC0-7C82-2870-4DDB6E5DD16C}"/>
              </a:ext>
            </a:extLst>
          </p:cNvPr>
          <p:cNvSpPr/>
          <p:nvPr userDrawn="1"/>
        </p:nvSpPr>
        <p:spPr>
          <a:xfrm rot="5400000">
            <a:off x="-2696843" y="3288251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chemeClr val="bg2">
                  <a:lumMod val="25000"/>
                </a:schemeClr>
              </a:gs>
              <a:gs pos="0">
                <a:schemeClr val="bg2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</p:spTree>
    <p:extLst>
      <p:ext uri="{BB962C8B-B14F-4D97-AF65-F5344CB8AC3E}">
        <p14:creationId xmlns:p14="http://schemas.microsoft.com/office/powerpoint/2010/main" val="86770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 Left">
    <p:bg>
      <p:bgPr>
        <a:gradFill>
          <a:gsLst>
            <a:gs pos="0">
              <a:schemeClr val="bg1"/>
            </a:gs>
            <a:gs pos="100000">
              <a:srgbClr val="EDF0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8D6684C-7DAE-5984-CE07-82A89C80E98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435836" y="0"/>
            <a:ext cx="5613840" cy="6858000"/>
          </a:xfrm>
          <a:prstGeom prst="snip2DiagRect">
            <a:avLst>
              <a:gd name="adj1" fmla="val 0"/>
              <a:gd name="adj2" fmla="val 7598"/>
            </a:avLst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322A5-0F15-4DB5-A270-9B98C2C90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1285" y="1825624"/>
            <a:ext cx="5181600" cy="43513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1BC01-F2E8-FAD2-8799-DD9690B8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69922" y="6493087"/>
            <a:ext cx="40564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903A4-0566-AE11-79E9-00CE7E0A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nip Same Side Corner Rectangle 3">
            <a:extLst>
              <a:ext uri="{FF2B5EF4-FFF2-40B4-BE49-F238E27FC236}">
                <a16:creationId xmlns:a16="http://schemas.microsoft.com/office/drawing/2014/main" id="{C449A3DE-F375-9A50-3471-7A714E7E4690}"/>
              </a:ext>
            </a:extLst>
          </p:cNvPr>
          <p:cNvSpPr/>
          <p:nvPr userDrawn="1"/>
        </p:nvSpPr>
        <p:spPr>
          <a:xfrm rot="16200000">
            <a:off x="9217255" y="3288252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908A8-2A48-4C1A-D2AB-ED157BD668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9214" y="489074"/>
            <a:ext cx="5424585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44169DD-4CD3-A150-AB20-3A3FC24155F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356449" y="6570493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55FE8C47-14E0-08A4-5A8E-7F12BDC770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7226B3B-6ECA-971F-659A-FB4CFD8486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7CD480B-D2BF-9000-F016-C753AE2C995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94881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Photo Left">
    <p:bg>
      <p:bgPr>
        <a:gradFill>
          <a:gsLst>
            <a:gs pos="0">
              <a:schemeClr val="bg1"/>
            </a:gs>
            <a:gs pos="100000">
              <a:srgbClr val="EDF0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8D6684C-7DAE-5984-CE07-82A89C80E98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435836" y="0"/>
            <a:ext cx="5613840" cy="6858000"/>
          </a:xfrm>
          <a:prstGeom prst="snip2DiagRect">
            <a:avLst>
              <a:gd name="adj1" fmla="val 0"/>
              <a:gd name="adj2" fmla="val 7598"/>
            </a:avLst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322A5-0F15-4DB5-A270-9B98C2C90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1285" y="1825624"/>
            <a:ext cx="5181600" cy="43513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1BC01-F2E8-FAD2-8799-DD9690B8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69922" y="6493087"/>
            <a:ext cx="40564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903A4-0566-AE11-79E9-00CE7E0A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908A8-2A48-4C1A-D2AB-ED157BD668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9214" y="489074"/>
            <a:ext cx="5424585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44169DD-4CD3-A150-AB20-3A3FC24155F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356449" y="6570493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55FE8C47-14E0-08A4-5A8E-7F12BDC770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7226B3B-6ECA-971F-659A-FB4CFD8486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7CD480B-D2BF-9000-F016-C753AE2C995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nip Same Side Corner Rectangle 11">
            <a:extLst>
              <a:ext uri="{FF2B5EF4-FFF2-40B4-BE49-F238E27FC236}">
                <a16:creationId xmlns:a16="http://schemas.microsoft.com/office/drawing/2014/main" id="{E3163A57-1667-5585-62F4-1EB4DA543B4B}"/>
              </a:ext>
            </a:extLst>
          </p:cNvPr>
          <p:cNvSpPr/>
          <p:nvPr userDrawn="1"/>
        </p:nvSpPr>
        <p:spPr>
          <a:xfrm rot="16200000">
            <a:off x="9217255" y="3288252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chemeClr val="bg2">
                  <a:lumMod val="25000"/>
                </a:schemeClr>
              </a:gs>
              <a:gs pos="0">
                <a:schemeClr val="bg2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</p:spTree>
    <p:extLst>
      <p:ext uri="{BB962C8B-B14F-4D97-AF65-F5344CB8AC3E}">
        <p14:creationId xmlns:p14="http://schemas.microsoft.com/office/powerpoint/2010/main" val="17440243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 Right V2">
    <p:bg>
      <p:bgPr>
        <a:gradFill>
          <a:gsLst>
            <a:gs pos="0">
              <a:schemeClr val="bg1"/>
            </a:gs>
            <a:gs pos="100000">
              <a:srgbClr val="EDF0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8D6684C-7DAE-5984-CE07-82A89C80E98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0401" y="591410"/>
            <a:ext cx="4343399" cy="5675181"/>
          </a:xfrm>
          <a:prstGeom prst="snip2DiagRect">
            <a:avLst>
              <a:gd name="adj1" fmla="val 0"/>
              <a:gd name="adj2" fmla="val 7598"/>
            </a:avLst>
          </a:prstGeom>
          <a:ln w="38100">
            <a:gradFill>
              <a:gsLst>
                <a:gs pos="0">
                  <a:srgbClr val="6657FF"/>
                </a:gs>
                <a:gs pos="100000">
                  <a:srgbClr val="402C85"/>
                </a:gs>
              </a:gsLst>
              <a:lin ang="5400000" scaled="1"/>
            </a:gra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322A5-0F15-4DB5-A270-9B98C2C90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3513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Snip Same Side Corner Rectangle 16">
            <a:extLst>
              <a:ext uri="{FF2B5EF4-FFF2-40B4-BE49-F238E27FC236}">
                <a16:creationId xmlns:a16="http://schemas.microsoft.com/office/drawing/2014/main" id="{07C315A4-955B-3FAA-7837-09498FE4D9E8}"/>
              </a:ext>
            </a:extLst>
          </p:cNvPr>
          <p:cNvSpPr/>
          <p:nvPr userDrawn="1"/>
        </p:nvSpPr>
        <p:spPr>
          <a:xfrm rot="5400000">
            <a:off x="-2696843" y="3288251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7" name="Snip Same Side Corner Rectangle 6">
            <a:extLst>
              <a:ext uri="{FF2B5EF4-FFF2-40B4-BE49-F238E27FC236}">
                <a16:creationId xmlns:a16="http://schemas.microsoft.com/office/drawing/2014/main" id="{F3A01BFC-6D9A-49B9-C957-B47B5BA61158}"/>
              </a:ext>
            </a:extLst>
          </p:cNvPr>
          <p:cNvSpPr/>
          <p:nvPr userDrawn="1"/>
        </p:nvSpPr>
        <p:spPr>
          <a:xfrm rot="16200000">
            <a:off x="9217255" y="3288252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2E75E-F639-1146-6D0B-82049E6F6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9074"/>
            <a:ext cx="5611905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23127B1-A60B-6CB8-0F4C-13E29F3C3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490F113-278F-2747-28CD-B27D2F9B8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F45C602-3429-4D6E-77F3-071603933F0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13" name="Picture 3">
              <a:extLst>
                <a:ext uri="{FF2B5EF4-FFF2-40B4-BE49-F238E27FC236}">
                  <a16:creationId xmlns:a16="http://schemas.microsoft.com/office/drawing/2014/main" id="{C0056727-7532-6BCC-4D55-8DDD2FB39C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4690E37F-7E5C-5D5F-1539-94BB9B11A5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33B3442-5AB6-A1A7-9942-7EB44B955B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57897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 Left V2">
    <p:bg>
      <p:bgPr>
        <a:gradFill>
          <a:gsLst>
            <a:gs pos="0">
              <a:schemeClr val="bg1"/>
            </a:gs>
            <a:gs pos="100000">
              <a:srgbClr val="EDF0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322A5-0F15-4DB5-A270-9B98C2C90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1285" y="1825624"/>
            <a:ext cx="5181600" cy="43513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nip Same Side Corner Rectangle 3">
            <a:extLst>
              <a:ext uri="{FF2B5EF4-FFF2-40B4-BE49-F238E27FC236}">
                <a16:creationId xmlns:a16="http://schemas.microsoft.com/office/drawing/2014/main" id="{C449A3DE-F375-9A50-3471-7A714E7E4690}"/>
              </a:ext>
            </a:extLst>
          </p:cNvPr>
          <p:cNvSpPr/>
          <p:nvPr userDrawn="1"/>
        </p:nvSpPr>
        <p:spPr>
          <a:xfrm rot="16200000">
            <a:off x="9217255" y="3288252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300DEBCB-48B5-972F-8CCD-D55633F4EE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3498" y="591410"/>
            <a:ext cx="4343399" cy="5675181"/>
          </a:xfrm>
          <a:prstGeom prst="snip2DiagRect">
            <a:avLst>
              <a:gd name="adj1" fmla="val 0"/>
              <a:gd name="adj2" fmla="val 7598"/>
            </a:avLst>
          </a:prstGeom>
          <a:ln w="38100">
            <a:gradFill>
              <a:gsLst>
                <a:gs pos="0">
                  <a:srgbClr val="6657FF"/>
                </a:gs>
                <a:gs pos="100000">
                  <a:srgbClr val="402C85"/>
                </a:gs>
              </a:gsLst>
              <a:lin ang="5400000" scaled="1"/>
            </a:gra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nip Same Side Corner Rectangle 12">
            <a:extLst>
              <a:ext uri="{FF2B5EF4-FFF2-40B4-BE49-F238E27FC236}">
                <a16:creationId xmlns:a16="http://schemas.microsoft.com/office/drawing/2014/main" id="{2EAC64BB-629F-2B2A-DD25-F03C33ED7E53}"/>
              </a:ext>
            </a:extLst>
          </p:cNvPr>
          <p:cNvSpPr/>
          <p:nvPr userDrawn="1"/>
        </p:nvSpPr>
        <p:spPr>
          <a:xfrm rot="5400000">
            <a:off x="-2696843" y="3288251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726F2-BC12-5D5C-F0D8-572823DBE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8108" y="489074"/>
            <a:ext cx="5405692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CA78B22-7C4F-D45A-D145-AEF027D7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5D790A4-A017-6267-4B7E-D2B1BB2A5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E0CF35-1E44-9BE1-0727-3B36874FA0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17" name="Picture 3">
              <a:extLst>
                <a:ext uri="{FF2B5EF4-FFF2-40B4-BE49-F238E27FC236}">
                  <a16:creationId xmlns:a16="http://schemas.microsoft.com/office/drawing/2014/main" id="{9A9632BA-B4D4-B6D9-C7B9-617E4FAEFD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7BA4A20E-DD1B-A5E4-0909-7E062EB686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3751F58-DCF8-154F-8AE2-7E2565287E1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71650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hoto">
    <p:bg>
      <p:bgPr>
        <a:gradFill>
          <a:gsLst>
            <a:gs pos="0">
              <a:schemeClr val="bg1"/>
            </a:gs>
            <a:gs pos="100000">
              <a:srgbClr val="EDF0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nip Same Side Corner Rectangle 19">
            <a:extLst>
              <a:ext uri="{FF2B5EF4-FFF2-40B4-BE49-F238E27FC236}">
                <a16:creationId xmlns:a16="http://schemas.microsoft.com/office/drawing/2014/main" id="{AD2F1CAD-3231-8836-4215-22F2CF36E452}"/>
              </a:ext>
            </a:extLst>
          </p:cNvPr>
          <p:cNvSpPr/>
          <p:nvPr userDrawn="1"/>
        </p:nvSpPr>
        <p:spPr>
          <a:xfrm rot="16200000">
            <a:off x="9217255" y="3288252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5" name="Snip Same Side Corner Rectangle 24">
            <a:extLst>
              <a:ext uri="{FF2B5EF4-FFF2-40B4-BE49-F238E27FC236}">
                <a16:creationId xmlns:a16="http://schemas.microsoft.com/office/drawing/2014/main" id="{67177197-C446-06E0-58CE-F59A97598712}"/>
              </a:ext>
            </a:extLst>
          </p:cNvPr>
          <p:cNvSpPr/>
          <p:nvPr userDrawn="1"/>
        </p:nvSpPr>
        <p:spPr>
          <a:xfrm rot="5400000">
            <a:off x="-2696843" y="3288251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90BD0447-2D26-E564-4B65-ADE948F1D9A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4498" y="1851455"/>
            <a:ext cx="2644345" cy="2644345"/>
          </a:xfrm>
          <a:prstGeom prst="snip2DiagRect">
            <a:avLst>
              <a:gd name="adj1" fmla="val 0"/>
              <a:gd name="adj2" fmla="val 7598"/>
            </a:avLst>
          </a:prstGeom>
          <a:ln w="38100">
            <a:gradFill>
              <a:gsLst>
                <a:gs pos="0">
                  <a:srgbClr val="6657FF"/>
                </a:gs>
                <a:gs pos="100000">
                  <a:srgbClr val="402C85"/>
                </a:gs>
              </a:gsLst>
              <a:lin ang="5400000" scaled="1"/>
            </a:gra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38DB27A4-3B9C-8EE7-8AE0-9487031DD6D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34498" y="4593067"/>
            <a:ext cx="2644346" cy="45835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rgbClr val="6657FF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2680908B-DEAB-BDAD-0A88-137790D53CA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234498" y="5067300"/>
            <a:ext cx="2644346" cy="619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442CCC95-0B44-A105-C1A5-0935D8709CD0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773828" y="1851455"/>
            <a:ext cx="2644345" cy="2644345"/>
          </a:xfrm>
          <a:prstGeom prst="snip2DiagRect">
            <a:avLst>
              <a:gd name="adj1" fmla="val 0"/>
              <a:gd name="adj2" fmla="val 7598"/>
            </a:avLst>
          </a:prstGeom>
          <a:ln w="38100">
            <a:gradFill>
              <a:gsLst>
                <a:gs pos="0">
                  <a:srgbClr val="6657FF"/>
                </a:gs>
                <a:gs pos="100000">
                  <a:srgbClr val="402C85"/>
                </a:gs>
              </a:gsLst>
              <a:lin ang="5400000" scaled="1"/>
            </a:gra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21EC746B-8438-4A4D-389C-CDE892F10710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773827" y="4593067"/>
            <a:ext cx="2644346" cy="45835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rgbClr val="6657FF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3786741B-026B-5AA8-11AC-D85CE51A5DB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773827" y="5067300"/>
            <a:ext cx="2644346" cy="619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37" name="Picture Placeholder 10">
            <a:extLst>
              <a:ext uri="{FF2B5EF4-FFF2-40B4-BE49-F238E27FC236}">
                <a16:creationId xmlns:a16="http://schemas.microsoft.com/office/drawing/2014/main" id="{8B96F381-696E-706B-94A0-D68918ED85D4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8313156" y="1851455"/>
            <a:ext cx="2644345" cy="2644345"/>
          </a:xfrm>
          <a:prstGeom prst="snip2DiagRect">
            <a:avLst>
              <a:gd name="adj1" fmla="val 0"/>
              <a:gd name="adj2" fmla="val 7598"/>
            </a:avLst>
          </a:prstGeom>
          <a:ln w="38100">
            <a:gradFill>
              <a:gsLst>
                <a:gs pos="0">
                  <a:srgbClr val="6657FF"/>
                </a:gs>
                <a:gs pos="100000">
                  <a:srgbClr val="402C85"/>
                </a:gs>
              </a:gsLst>
              <a:lin ang="5400000" scaled="1"/>
            </a:gra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E0F06008-9C58-8EA3-D3CC-00C9C3D5DE4C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313155" y="4593067"/>
            <a:ext cx="2644346" cy="45835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rgbClr val="6657FF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207A974B-BD8B-E816-4445-35DA91475253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313155" y="5067300"/>
            <a:ext cx="2644346" cy="619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EE845-05EE-2671-9A0D-1DCBAEBD92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9074"/>
            <a:ext cx="105156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BEC1DFF-FD3C-A7AD-5799-2E6B6AEFF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EB2D270-6084-45F6-AB54-7075D8C1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EDE7FEA-B2E9-8F37-16B7-8992A560FC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6" name="Picture 3">
              <a:extLst>
                <a:ext uri="{FF2B5EF4-FFF2-40B4-BE49-F238E27FC236}">
                  <a16:creationId xmlns:a16="http://schemas.microsoft.com/office/drawing/2014/main" id="{6B21AE0D-0DD9-0271-5337-6F61863F3B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A982039A-F915-5750-3234-2DD0D11122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7DC5005-18EC-01B0-EA54-7DD5A6A3D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453573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hoto">
    <p:bg>
      <p:bgPr>
        <a:gradFill>
          <a:gsLst>
            <a:gs pos="0">
              <a:schemeClr val="bg1"/>
            </a:gs>
            <a:gs pos="100000">
              <a:srgbClr val="EDF0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nip Same Side Corner Rectangle 19">
            <a:extLst>
              <a:ext uri="{FF2B5EF4-FFF2-40B4-BE49-F238E27FC236}">
                <a16:creationId xmlns:a16="http://schemas.microsoft.com/office/drawing/2014/main" id="{AD2F1CAD-3231-8836-4215-22F2CF36E452}"/>
              </a:ext>
            </a:extLst>
          </p:cNvPr>
          <p:cNvSpPr/>
          <p:nvPr userDrawn="1"/>
        </p:nvSpPr>
        <p:spPr>
          <a:xfrm rot="16200000">
            <a:off x="9217255" y="3288252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5" name="Snip Same Side Corner Rectangle 24">
            <a:extLst>
              <a:ext uri="{FF2B5EF4-FFF2-40B4-BE49-F238E27FC236}">
                <a16:creationId xmlns:a16="http://schemas.microsoft.com/office/drawing/2014/main" id="{67177197-C446-06E0-58CE-F59A97598712}"/>
              </a:ext>
            </a:extLst>
          </p:cNvPr>
          <p:cNvSpPr/>
          <p:nvPr userDrawn="1"/>
        </p:nvSpPr>
        <p:spPr>
          <a:xfrm rot="5400000">
            <a:off x="-2696843" y="3288251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90BD0447-2D26-E564-4B65-ADE948F1D9A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959052" y="1369205"/>
            <a:ext cx="1483302" cy="1483302"/>
          </a:xfrm>
          <a:prstGeom prst="snip2DiagRect">
            <a:avLst>
              <a:gd name="adj1" fmla="val 0"/>
              <a:gd name="adj2" fmla="val 7598"/>
            </a:avLst>
          </a:prstGeom>
          <a:ln w="38100">
            <a:gradFill>
              <a:gsLst>
                <a:gs pos="0">
                  <a:srgbClr val="6657FF"/>
                </a:gs>
                <a:gs pos="100000">
                  <a:srgbClr val="402C85"/>
                </a:gs>
              </a:gsLst>
              <a:lin ang="5400000" scaled="1"/>
            </a:gra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38DB27A4-3B9C-8EE7-8AE0-9487031DD6D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78530" y="2925718"/>
            <a:ext cx="2644346" cy="390525"/>
          </a:xfrm>
        </p:spPr>
        <p:txBody>
          <a:bodyPr anchor="b">
            <a:normAutofit/>
          </a:bodyPr>
          <a:lstStyle>
            <a:lvl1pPr marL="0" indent="0" algn="ctr">
              <a:buNone/>
              <a:defRPr sz="1600" b="1">
                <a:solidFill>
                  <a:srgbClr val="6657FF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2680908B-DEAB-BDAD-0A88-137790D53CA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378530" y="3332120"/>
            <a:ext cx="2644346" cy="2921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3911823D-CBBD-CE31-9DE5-3C0C6BF4D76F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1959052" y="4206795"/>
            <a:ext cx="1483302" cy="1483302"/>
          </a:xfrm>
          <a:prstGeom prst="snip2DiagRect">
            <a:avLst>
              <a:gd name="adj1" fmla="val 0"/>
              <a:gd name="adj2" fmla="val 7598"/>
            </a:avLst>
          </a:prstGeom>
          <a:ln w="38100">
            <a:gradFill>
              <a:gsLst>
                <a:gs pos="0">
                  <a:srgbClr val="6657FF"/>
                </a:gs>
                <a:gs pos="100000">
                  <a:srgbClr val="402C85"/>
                </a:gs>
              </a:gsLst>
              <a:lin ang="5400000" scaled="1"/>
            </a:gra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44671F6-4064-3B93-F8DC-7865FE0FD75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378530" y="5763308"/>
            <a:ext cx="2644346" cy="390525"/>
          </a:xfrm>
        </p:spPr>
        <p:txBody>
          <a:bodyPr anchor="b">
            <a:normAutofit/>
          </a:bodyPr>
          <a:lstStyle>
            <a:lvl1pPr marL="0" indent="0" algn="ctr">
              <a:buNone/>
              <a:defRPr sz="1600" b="1">
                <a:solidFill>
                  <a:srgbClr val="6657FF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A1130C3-6D90-0D8F-F5D4-791F2973AAB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378530" y="6169710"/>
            <a:ext cx="2644346" cy="2921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1F71014D-9047-BCE6-F271-7B325CD3C27E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5273752" y="1369205"/>
            <a:ext cx="1483302" cy="1483302"/>
          </a:xfrm>
          <a:prstGeom prst="snip2DiagRect">
            <a:avLst>
              <a:gd name="adj1" fmla="val 0"/>
              <a:gd name="adj2" fmla="val 7598"/>
            </a:avLst>
          </a:prstGeom>
          <a:ln w="38100">
            <a:gradFill>
              <a:gsLst>
                <a:gs pos="0">
                  <a:srgbClr val="6657FF"/>
                </a:gs>
                <a:gs pos="100000">
                  <a:srgbClr val="402C85"/>
                </a:gs>
              </a:gsLst>
              <a:lin ang="5400000" scaled="1"/>
            </a:gra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9CD287-9446-7F6C-9638-3B42F6CAEF7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93230" y="2925718"/>
            <a:ext cx="2644346" cy="390525"/>
          </a:xfrm>
        </p:spPr>
        <p:txBody>
          <a:bodyPr anchor="b">
            <a:normAutofit/>
          </a:bodyPr>
          <a:lstStyle>
            <a:lvl1pPr marL="0" indent="0" algn="ctr">
              <a:buNone/>
              <a:defRPr sz="1600" b="1">
                <a:solidFill>
                  <a:srgbClr val="6657FF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998A8DA-9920-0128-E956-8B68C7C79BA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693230" y="3332120"/>
            <a:ext cx="2644346" cy="2921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EFB9B59-75C4-6BCB-CD5C-800323017B0C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5273752" y="4206795"/>
            <a:ext cx="1483302" cy="1483302"/>
          </a:xfrm>
          <a:prstGeom prst="snip2DiagRect">
            <a:avLst>
              <a:gd name="adj1" fmla="val 0"/>
              <a:gd name="adj2" fmla="val 7598"/>
            </a:avLst>
          </a:prstGeom>
          <a:ln w="38100">
            <a:gradFill>
              <a:gsLst>
                <a:gs pos="0">
                  <a:srgbClr val="6657FF"/>
                </a:gs>
                <a:gs pos="100000">
                  <a:srgbClr val="402C85"/>
                </a:gs>
              </a:gsLst>
              <a:lin ang="5400000" scaled="1"/>
            </a:gra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40D9CA8-3361-A756-5B46-3E87885DFDC8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693230" y="5763308"/>
            <a:ext cx="2644346" cy="390525"/>
          </a:xfrm>
        </p:spPr>
        <p:txBody>
          <a:bodyPr anchor="b">
            <a:normAutofit/>
          </a:bodyPr>
          <a:lstStyle>
            <a:lvl1pPr marL="0" indent="0" algn="ctr">
              <a:buNone/>
              <a:defRPr sz="1600" b="1">
                <a:solidFill>
                  <a:srgbClr val="6657FF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1254EBE-74C0-67CE-E70D-D0BD95C7A80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93230" y="6169710"/>
            <a:ext cx="2644346" cy="2921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570E0C08-A00B-7DC2-B5AE-61B412C57898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8588452" y="1369205"/>
            <a:ext cx="1483302" cy="1483302"/>
          </a:xfrm>
          <a:prstGeom prst="snip2DiagRect">
            <a:avLst>
              <a:gd name="adj1" fmla="val 0"/>
              <a:gd name="adj2" fmla="val 7598"/>
            </a:avLst>
          </a:prstGeom>
          <a:ln w="38100">
            <a:gradFill>
              <a:gsLst>
                <a:gs pos="0">
                  <a:srgbClr val="6657FF"/>
                </a:gs>
                <a:gs pos="100000">
                  <a:srgbClr val="402C85"/>
                </a:gs>
              </a:gsLst>
              <a:lin ang="5400000" scaled="1"/>
            </a:gra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1EF0FF8-F1ED-AA9E-C904-25860E486B4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8007930" y="2925718"/>
            <a:ext cx="2644346" cy="390525"/>
          </a:xfrm>
        </p:spPr>
        <p:txBody>
          <a:bodyPr anchor="b">
            <a:normAutofit/>
          </a:bodyPr>
          <a:lstStyle>
            <a:lvl1pPr marL="0" indent="0" algn="ctr">
              <a:buNone/>
              <a:defRPr sz="1600" b="1">
                <a:solidFill>
                  <a:srgbClr val="6657FF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8D4D05E-1646-DF48-C23B-221A45C74EE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007930" y="3332120"/>
            <a:ext cx="2644346" cy="2921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4FA15BD1-B43A-3172-0E2D-0ED54A54639A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8588452" y="4206795"/>
            <a:ext cx="1483302" cy="1483302"/>
          </a:xfrm>
          <a:prstGeom prst="snip2DiagRect">
            <a:avLst>
              <a:gd name="adj1" fmla="val 0"/>
              <a:gd name="adj2" fmla="val 7598"/>
            </a:avLst>
          </a:prstGeom>
          <a:ln w="38100">
            <a:gradFill>
              <a:gsLst>
                <a:gs pos="0">
                  <a:srgbClr val="6657FF"/>
                </a:gs>
                <a:gs pos="100000">
                  <a:srgbClr val="402C85"/>
                </a:gs>
              </a:gsLst>
              <a:lin ang="5400000" scaled="1"/>
            </a:gra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6E90B08-19D9-80F0-4BAD-649ECB33A39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007930" y="5763308"/>
            <a:ext cx="2644346" cy="390525"/>
          </a:xfrm>
        </p:spPr>
        <p:txBody>
          <a:bodyPr anchor="b">
            <a:normAutofit/>
          </a:bodyPr>
          <a:lstStyle>
            <a:lvl1pPr marL="0" indent="0" algn="ctr">
              <a:buNone/>
              <a:defRPr sz="1600" b="1">
                <a:solidFill>
                  <a:srgbClr val="6657FF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1EA4B06-1EB0-3607-E8B8-5D7FDA924F9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007930" y="6169710"/>
            <a:ext cx="2644346" cy="2921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E2A66F-3A8F-27CE-BDC8-8C0BC981F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9074"/>
            <a:ext cx="105156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</p:spTree>
    <p:extLst>
      <p:ext uri="{BB962C8B-B14F-4D97-AF65-F5344CB8AC3E}">
        <p14:creationId xmlns:p14="http://schemas.microsoft.com/office/powerpoint/2010/main" val="1631423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lank">
    <p:bg>
      <p:bgPr>
        <a:gradFill>
          <a:gsLst>
            <a:gs pos="0">
              <a:schemeClr val="bg1"/>
            </a:gs>
            <a:gs pos="100000">
              <a:srgbClr val="EDF0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5F432-F08E-88CF-BB32-2DC4D3EFD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9074"/>
            <a:ext cx="105156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ECF75A3-8F90-8CFB-866D-9B06C7481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20F09E-8BEB-150B-0D8D-3C9FC467E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7196A58-0942-95E4-DDA6-F9A31CD156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17" name="Picture 3">
              <a:extLst>
                <a:ext uri="{FF2B5EF4-FFF2-40B4-BE49-F238E27FC236}">
                  <a16:creationId xmlns:a16="http://schemas.microsoft.com/office/drawing/2014/main" id="{B8AF9E62-5DB7-61E3-42E2-5BA6FF46E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68312B29-BEC9-6930-5D68-9E2EA1B61D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775E086-170F-5A7E-EAAD-86F8CE6AA0A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38787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Blank">
    <p:bg>
      <p:bgPr>
        <a:gradFill>
          <a:gsLst>
            <a:gs pos="0">
              <a:schemeClr val="bg1"/>
            </a:gs>
            <a:gs pos="100000">
              <a:srgbClr val="EDF0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93E2D9F-E2D6-A325-878E-F1A2A70FC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67B05A4-C18F-7603-2866-AF9AE484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B2C41F6-5B9B-ABE5-4CC4-7D4B46E3BBA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10" name="Picture 3">
              <a:extLst>
                <a:ext uri="{FF2B5EF4-FFF2-40B4-BE49-F238E27FC236}">
                  <a16:creationId xmlns:a16="http://schemas.microsoft.com/office/drawing/2014/main" id="{921549A6-6EEF-8605-CD9E-41546CB3B7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52152C7D-38C0-BE97-55C7-73539DE76A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B0CA6DE-C571-87C7-CEB2-4F53D661DF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8042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8B5B4D1-793E-F28F-0B44-35DB3474DC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1595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8B0AB6-C2FC-8969-D3E9-15CC1D1F83C3}"/>
              </a:ext>
            </a:extLst>
          </p:cNvPr>
          <p:cNvSpPr/>
          <p:nvPr userDrawn="1"/>
        </p:nvSpPr>
        <p:spPr>
          <a:xfrm>
            <a:off x="3" y="6159500"/>
            <a:ext cx="12191995" cy="698500"/>
          </a:xfrm>
          <a:prstGeom prst="rect">
            <a:avLst/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F24BB-B06C-2F49-CAA1-B64DBFAB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24D66-0AD6-5719-924D-F2A63EC7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BB669A-BB38-564A-DE10-E9A52A7D221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bg1"/>
          </a:solidFill>
        </p:grpSpPr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14C3F803-2742-5A5D-C37E-3F031DC421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8AA13E35-3A9B-87A6-F768-F789EF8FD5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DA0AC52-8922-4BFE-FD39-47D288698C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28593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8B5B4D1-793E-F28F-0B44-35DB3474DC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1595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8B0AB6-C2FC-8969-D3E9-15CC1D1F83C3}"/>
              </a:ext>
            </a:extLst>
          </p:cNvPr>
          <p:cNvSpPr/>
          <p:nvPr userDrawn="1"/>
        </p:nvSpPr>
        <p:spPr>
          <a:xfrm>
            <a:off x="3" y="6159500"/>
            <a:ext cx="12191995" cy="698500"/>
          </a:xfrm>
          <a:prstGeom prst="rect">
            <a:avLst/>
          </a:prstGeom>
          <a:gradFill flip="none" rotWithShape="1">
            <a:gsLst>
              <a:gs pos="0">
                <a:srgbClr val="9BA1FF"/>
              </a:gs>
              <a:gs pos="100000">
                <a:srgbClr val="6657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F24BB-B06C-2F49-CAA1-B64DBFAB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24D66-0AD6-5719-924D-F2A63EC7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BB669A-BB38-564A-DE10-E9A52A7D221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bg1"/>
          </a:solidFill>
        </p:grpSpPr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14C3F803-2742-5A5D-C37E-3F031DC421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8AA13E35-3A9B-87A6-F768-F789EF8FD5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DA0AC52-8922-4BFE-FD39-47D288698C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954480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8B5B4D1-793E-F28F-0B44-35DB3474DC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9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8B0AB6-C2FC-8969-D3E9-15CC1D1F83C3}"/>
              </a:ext>
            </a:extLst>
          </p:cNvPr>
          <p:cNvSpPr/>
          <p:nvPr userDrawn="1"/>
        </p:nvSpPr>
        <p:spPr>
          <a:xfrm>
            <a:off x="3" y="6159500"/>
            <a:ext cx="12191995" cy="698500"/>
          </a:xfrm>
          <a:prstGeom prst="rect">
            <a:avLst/>
          </a:prstGeom>
          <a:gradFill flip="none" rotWithShape="1">
            <a:gsLst>
              <a:gs pos="0">
                <a:srgbClr val="EDF0FF"/>
              </a:gs>
              <a:gs pos="100000">
                <a:srgbClr val="9BA1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F24BB-B06C-2F49-CAA1-B64DBFAB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24D66-0AD6-5719-924D-F2A63EC7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F0696E6-824A-D59B-4515-6C897F365D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5" name="Picture 3">
              <a:extLst>
                <a:ext uri="{FF2B5EF4-FFF2-40B4-BE49-F238E27FC236}">
                  <a16:creationId xmlns:a16="http://schemas.microsoft.com/office/drawing/2014/main" id="{E27368A8-2955-5468-A45B-2D2065581F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304521C-0D85-5CC3-23DB-92BAFF5F3F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3FBFAF8-581A-9CA5-9E1F-B48A2AE51F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78737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0">
              <a:schemeClr val="bg1"/>
            </a:gs>
            <a:gs pos="100000">
              <a:srgbClr val="EDF0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F24BB-B06C-2F49-CAA1-B64DBFAB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2875"/>
            <a:ext cx="595263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24D66-0AD6-5719-924D-F2A63EC7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2875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44554C-F83F-5A9F-E4FF-5DEFF2CB2C5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5" name="Picture 3">
              <a:extLst>
                <a:ext uri="{FF2B5EF4-FFF2-40B4-BE49-F238E27FC236}">
                  <a16:creationId xmlns:a16="http://schemas.microsoft.com/office/drawing/2014/main" id="{BD9AD666-A6D1-391B-9FCB-F0285D0F81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E17559E3-747C-CBCB-44CC-32F719DCA6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EF93898-DF62-633A-6DB3-730D36A607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908DB11C-0427-3E68-5986-629E913051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9074"/>
            <a:ext cx="105156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</p:spTree>
    <p:extLst>
      <p:ext uri="{BB962C8B-B14F-4D97-AF65-F5344CB8AC3E}">
        <p14:creationId xmlns:p14="http://schemas.microsoft.com/office/powerpoint/2010/main" val="11269440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lank V2">
    <p:bg>
      <p:bgPr>
        <a:gradFill flip="none" rotWithShape="1">
          <a:gsLst>
            <a:gs pos="0">
              <a:srgbClr val="402C85"/>
            </a:gs>
            <a:gs pos="100000">
              <a:srgbClr val="6657FF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Same Side Corner Rectangle 8">
            <a:extLst>
              <a:ext uri="{FF2B5EF4-FFF2-40B4-BE49-F238E27FC236}">
                <a16:creationId xmlns:a16="http://schemas.microsoft.com/office/drawing/2014/main" id="{080BAE78-9D9E-4248-9666-90604D8DFA90}"/>
              </a:ext>
            </a:extLst>
          </p:cNvPr>
          <p:cNvSpPr/>
          <p:nvPr userDrawn="1"/>
        </p:nvSpPr>
        <p:spPr>
          <a:xfrm rot="5400000">
            <a:off x="-2696843" y="3288251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9BA1FF"/>
              </a:gs>
              <a:gs pos="0">
                <a:srgbClr val="EDF0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0" name="Snip Same Side Corner Rectangle 9">
            <a:extLst>
              <a:ext uri="{FF2B5EF4-FFF2-40B4-BE49-F238E27FC236}">
                <a16:creationId xmlns:a16="http://schemas.microsoft.com/office/drawing/2014/main" id="{9A9A9A1A-9BD4-7A5A-7C97-5BAC8D46CA8C}"/>
              </a:ext>
            </a:extLst>
          </p:cNvPr>
          <p:cNvSpPr/>
          <p:nvPr userDrawn="1"/>
        </p:nvSpPr>
        <p:spPr>
          <a:xfrm rot="16200000">
            <a:off x="9217255" y="3288252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9BA1FF"/>
              </a:gs>
              <a:gs pos="0">
                <a:srgbClr val="EDF0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BB669A-BB38-564A-DE10-E9A52A7D221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26071"/>
            <a:ext cx="1479101" cy="210312"/>
            <a:chOff x="857250" y="724348"/>
            <a:chExt cx="4917722" cy="699247"/>
          </a:xfrm>
          <a:solidFill>
            <a:schemeClr val="bg1"/>
          </a:solidFill>
        </p:grpSpPr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14C3F803-2742-5A5D-C37E-3F031DC421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8AA13E35-3A9B-87A6-F768-F789EF8FD5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DA0AC52-8922-4BFE-FD39-47D288698C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445F18-57EC-B7E2-6581-B38BCEDE4F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9074"/>
            <a:ext cx="105156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59FACC3-7AB6-D1D2-496A-B558E3645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EDAB107-4443-3C29-3730-90557BD44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0649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lank V2 ALT">
    <p:bg>
      <p:bgPr>
        <a:gradFill flip="none" rotWithShape="1">
          <a:gsLst>
            <a:gs pos="0">
              <a:srgbClr val="402C85"/>
            </a:gs>
            <a:gs pos="100000">
              <a:srgbClr val="6657FF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9F4C304-7DFB-B24D-0851-DDC704AA4BE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26071"/>
            <a:ext cx="1479101" cy="210312"/>
            <a:chOff x="857250" y="724348"/>
            <a:chExt cx="4917722" cy="699247"/>
          </a:xfrm>
          <a:solidFill>
            <a:schemeClr val="bg1"/>
          </a:solidFill>
        </p:grpSpPr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E911B44C-B942-7C82-EAA8-A8DBEE7223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E374324-6A27-9E4E-889C-55DF01238A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5A6FE3F-3439-081A-F843-57DF3AE8E0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7602B14D-02E1-D228-9259-6AEDB38761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9074"/>
            <a:ext cx="105156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41F44532-0C2B-D59F-BB21-0C5EF21A9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F798B764-C4F1-4C49-7393-C7F4FA8C2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4759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lank V3">
    <p:bg>
      <p:bgPr>
        <a:gradFill flip="none" rotWithShape="1">
          <a:gsLst>
            <a:gs pos="0">
              <a:srgbClr val="402C85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Same Side Corner Rectangle 8">
            <a:extLst>
              <a:ext uri="{FF2B5EF4-FFF2-40B4-BE49-F238E27FC236}">
                <a16:creationId xmlns:a16="http://schemas.microsoft.com/office/drawing/2014/main" id="{080BAE78-9D9E-4248-9666-90604D8DFA90}"/>
              </a:ext>
            </a:extLst>
          </p:cNvPr>
          <p:cNvSpPr/>
          <p:nvPr userDrawn="1"/>
        </p:nvSpPr>
        <p:spPr>
          <a:xfrm rot="5400000">
            <a:off x="-2696843" y="3288251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6657FF"/>
              </a:gs>
              <a:gs pos="0">
                <a:srgbClr val="9BA1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0" name="Snip Same Side Corner Rectangle 9">
            <a:extLst>
              <a:ext uri="{FF2B5EF4-FFF2-40B4-BE49-F238E27FC236}">
                <a16:creationId xmlns:a16="http://schemas.microsoft.com/office/drawing/2014/main" id="{9A9A9A1A-9BD4-7A5A-7C97-5BAC8D46CA8C}"/>
              </a:ext>
            </a:extLst>
          </p:cNvPr>
          <p:cNvSpPr/>
          <p:nvPr userDrawn="1"/>
        </p:nvSpPr>
        <p:spPr>
          <a:xfrm rot="16200000">
            <a:off x="9217255" y="3288252"/>
            <a:ext cx="5675181" cy="281499"/>
          </a:xfrm>
          <a:prstGeom prst="snip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6657FF"/>
              </a:gs>
              <a:gs pos="0">
                <a:srgbClr val="9BA1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72CD597-012F-61B5-5F88-F0CD32C9121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26071"/>
            <a:ext cx="1479101" cy="210312"/>
            <a:chOff x="857250" y="724348"/>
            <a:chExt cx="4917722" cy="699247"/>
          </a:xfrm>
          <a:solidFill>
            <a:schemeClr val="bg1"/>
          </a:solidFill>
        </p:grpSpPr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F158F674-987C-3658-C7DD-1598E0CABA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2AFAED9A-9D70-D7C8-B455-7F22CA220A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B472075-FE58-578D-B1AE-C0C6DB3699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B8992212-BEDE-B0C1-4345-1992E8B6DB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9074"/>
            <a:ext cx="105156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004C07E7-208E-C99E-F545-DDFD5A1CC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97B74616-37E9-FA5C-DC13-6BD54DF9D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1595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lank V3 ALT">
    <p:bg>
      <p:bgPr>
        <a:gradFill flip="none" rotWithShape="1">
          <a:gsLst>
            <a:gs pos="0">
              <a:srgbClr val="402C85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urple background&#10;&#10;AI-generated content may be incorrect.">
            <a:extLst>
              <a:ext uri="{FF2B5EF4-FFF2-40B4-BE49-F238E27FC236}">
                <a16:creationId xmlns:a16="http://schemas.microsoft.com/office/drawing/2014/main" id="{F164DA65-18FF-86C1-5E03-5BDB0681DC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48ED72B-1753-39DA-8529-638AE4974BD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26071"/>
            <a:ext cx="1479101" cy="210312"/>
            <a:chOff x="857250" y="724348"/>
            <a:chExt cx="4917722" cy="699247"/>
          </a:xfrm>
          <a:solidFill>
            <a:schemeClr val="bg1"/>
          </a:solidFill>
        </p:grpSpPr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5C7262EA-9484-288D-32D0-ABCC135F0F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2B5A8492-78A9-D3A5-254A-BF47D78F41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6C53FD-AE59-E7F6-F941-0929DDD572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5920BB70-1E32-6A4F-EFB8-04856EC112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9074"/>
            <a:ext cx="105156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DC1196-F90C-6274-C384-82731FE8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5D6DB5E6-60F1-F711-93F5-581F6925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8292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Blank V3 ALT">
    <p:bg>
      <p:bgPr>
        <a:gradFill flip="none" rotWithShape="1">
          <a:gsLst>
            <a:gs pos="0">
              <a:srgbClr val="402C85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background with many squares&#10;&#10;AI-generated content may be incorrect.">
            <a:extLst>
              <a:ext uri="{FF2B5EF4-FFF2-40B4-BE49-F238E27FC236}">
                <a16:creationId xmlns:a16="http://schemas.microsoft.com/office/drawing/2014/main" id="{A232B733-E13E-F777-5E1C-9343EFEEC5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84D7F88-9C75-428C-AA28-7CB4DB5093F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26071"/>
            <a:ext cx="1479101" cy="210312"/>
            <a:chOff x="857250" y="724348"/>
            <a:chExt cx="4917722" cy="699247"/>
          </a:xfrm>
          <a:solidFill>
            <a:schemeClr val="bg1"/>
          </a:solidFill>
        </p:grpSpPr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DC1D9FD8-F79A-B808-D3C2-83864C135A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4BE29C6A-1729-06EC-2778-D9921A637A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9FE2A0-7A6A-CBB9-8A78-AACFAB93E31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F103427D-0C65-0814-CEDA-23C2328345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9074"/>
            <a:ext cx="105156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462E4597-4D5C-E8B1-5AA0-D4A8DC4B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D9A3B381-DB8A-D258-C7B6-EE55E2E73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981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lank V4">
    <p:bg>
      <p:bgPr>
        <a:gradFill flip="none" rotWithShape="1">
          <a:gsLst>
            <a:gs pos="0">
              <a:srgbClr val="402C85"/>
            </a:gs>
            <a:gs pos="100000">
              <a:srgbClr val="6657FF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C791DCE-3F67-BE78-C747-645C0DD48E0C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3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90422"/>
            <a:ext cx="12192000" cy="703884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006E3A4-7970-F70A-0C21-2347062580C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26071"/>
            <a:ext cx="1479101" cy="210312"/>
            <a:chOff x="857250" y="724348"/>
            <a:chExt cx="4917722" cy="699247"/>
          </a:xfrm>
          <a:solidFill>
            <a:schemeClr val="bg1"/>
          </a:solidFill>
        </p:grpSpPr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F4B18CE1-4B94-1DDF-832B-1FC6D5AE00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32786BE-1677-C7F5-8AB2-0A5ECF8F85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5BEE440-7310-2136-EBBB-942011AF95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11D0C547-3B2F-8940-1567-782ECA78A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9074"/>
            <a:ext cx="10515600" cy="510784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HERE ALL CAPS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D064702F-D0D2-E729-C616-9B5F5BF4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A273EA6A-832F-2D2B-0482-94F5EF6FE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812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ortfolio V4">
    <p:bg>
      <p:bgPr>
        <a:gradFill flip="none" rotWithShape="1">
          <a:gsLst>
            <a:gs pos="0">
              <a:schemeClr val="bg1"/>
            </a:gs>
            <a:gs pos="100000">
              <a:srgbClr val="EDF0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nip Single Corner Rectangle 13">
            <a:extLst>
              <a:ext uri="{FF2B5EF4-FFF2-40B4-BE49-F238E27FC236}">
                <a16:creationId xmlns:a16="http://schemas.microsoft.com/office/drawing/2014/main" id="{55E89697-4490-BF22-7B6D-C0C3A0DBAFDB}"/>
              </a:ext>
            </a:extLst>
          </p:cNvPr>
          <p:cNvSpPr/>
          <p:nvPr userDrawn="1"/>
        </p:nvSpPr>
        <p:spPr>
          <a:xfrm>
            <a:off x="-12700" y="1"/>
            <a:ext cx="6108699" cy="6858000"/>
          </a:xfrm>
          <a:prstGeom prst="snip1Rect">
            <a:avLst>
              <a:gd name="adj" fmla="val 14562"/>
            </a:avLst>
          </a:prstGeom>
          <a:gradFill flip="none" rotWithShape="1">
            <a:gsLst>
              <a:gs pos="0">
                <a:srgbClr val="402C85"/>
              </a:gs>
              <a:gs pos="100000">
                <a:schemeClr val="tx1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054F1-02D1-1D73-95C0-01AB58DBA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37586"/>
            <a:ext cx="4693794" cy="132556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GAME NAME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C9D48-0294-F755-A94F-8EAD9C8AB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198086"/>
            <a:ext cx="4693794" cy="2144796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1BC01-F2E8-FAD2-8799-DD9690B8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010" y="6483942"/>
            <a:ext cx="330960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903A4-0566-AE11-79E9-00CE7E0A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1616" y="6483941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BCACCCC-9808-3749-D72C-BBB68165B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13492"/>
            <a:ext cx="4693795" cy="312738"/>
          </a:xfrm>
        </p:spPr>
        <p:txBody>
          <a:bodyPr>
            <a:normAutofit/>
          </a:bodyPr>
          <a:lstStyle>
            <a:lvl1pPr marL="0" indent="0">
              <a:buNone/>
              <a:defRPr sz="14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PORTFOLIO NAME HERE</a:t>
            </a:r>
          </a:p>
        </p:txBody>
      </p:sp>
    </p:spTree>
    <p:extLst>
      <p:ext uri="{BB962C8B-B14F-4D97-AF65-F5344CB8AC3E}">
        <p14:creationId xmlns:p14="http://schemas.microsoft.com/office/powerpoint/2010/main" val="5264392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ortfolio V4">
    <p:bg>
      <p:bgPr>
        <a:gradFill flip="none" rotWithShape="1">
          <a:gsLst>
            <a:gs pos="0">
              <a:schemeClr val="bg1"/>
            </a:gs>
            <a:gs pos="100000">
              <a:srgbClr val="EDF0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nip Single Corner Rectangle 13">
            <a:extLst>
              <a:ext uri="{FF2B5EF4-FFF2-40B4-BE49-F238E27FC236}">
                <a16:creationId xmlns:a16="http://schemas.microsoft.com/office/drawing/2014/main" id="{55E89697-4490-BF22-7B6D-C0C3A0DBAFDB}"/>
              </a:ext>
            </a:extLst>
          </p:cNvPr>
          <p:cNvSpPr/>
          <p:nvPr userDrawn="1"/>
        </p:nvSpPr>
        <p:spPr>
          <a:xfrm>
            <a:off x="-12700" y="-1"/>
            <a:ext cx="6108699" cy="6858001"/>
          </a:xfrm>
          <a:prstGeom prst="snip1Rect">
            <a:avLst>
              <a:gd name="adj" fmla="val 14562"/>
            </a:avLst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054F1-02D1-1D73-95C0-01AB58DBA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37586"/>
            <a:ext cx="4693794" cy="132556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GAME NAME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C9D48-0294-F755-A94F-8EAD9C8AB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198086"/>
            <a:ext cx="4693794" cy="2144796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1BC01-F2E8-FAD2-8799-DD9690B8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010" y="6483942"/>
            <a:ext cx="330960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903A4-0566-AE11-79E9-00CE7E0A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1616" y="6483941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BCACCCC-9808-3749-D72C-BBB68165B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13492"/>
            <a:ext cx="4693795" cy="312738"/>
          </a:xfrm>
        </p:spPr>
        <p:txBody>
          <a:bodyPr>
            <a:normAutofit/>
          </a:bodyPr>
          <a:lstStyle>
            <a:lvl1pPr marL="0" indent="0">
              <a:buNone/>
              <a:defRPr sz="14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PORTFOLIO NAME HERE</a:t>
            </a:r>
          </a:p>
        </p:txBody>
      </p:sp>
    </p:spTree>
    <p:extLst>
      <p:ext uri="{BB962C8B-B14F-4D97-AF65-F5344CB8AC3E}">
        <p14:creationId xmlns:p14="http://schemas.microsoft.com/office/powerpoint/2010/main" val="3036862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ortfolio V4">
    <p:bg>
      <p:bgPr>
        <a:gradFill flip="none" rotWithShape="1">
          <a:gsLst>
            <a:gs pos="0">
              <a:schemeClr val="bg1"/>
            </a:gs>
            <a:gs pos="100000">
              <a:srgbClr val="EDF0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nip Single Corner Rectangle 13">
            <a:extLst>
              <a:ext uri="{FF2B5EF4-FFF2-40B4-BE49-F238E27FC236}">
                <a16:creationId xmlns:a16="http://schemas.microsoft.com/office/drawing/2014/main" id="{55E89697-4490-BF22-7B6D-C0C3A0DBAFDB}"/>
              </a:ext>
            </a:extLst>
          </p:cNvPr>
          <p:cNvSpPr/>
          <p:nvPr userDrawn="1"/>
        </p:nvSpPr>
        <p:spPr>
          <a:xfrm>
            <a:off x="-12700" y="1"/>
            <a:ext cx="6108699" cy="6858000"/>
          </a:xfrm>
          <a:prstGeom prst="snip1Rect">
            <a:avLst>
              <a:gd name="adj" fmla="val 14562"/>
            </a:avLst>
          </a:prstGeom>
          <a:gradFill flip="none" rotWithShape="1">
            <a:gsLst>
              <a:gs pos="0">
                <a:schemeClr val="bg2">
                  <a:lumMod val="75000"/>
                </a:schemeClr>
              </a:gs>
              <a:gs pos="100000">
                <a:schemeClr val="bg2">
                  <a:lumMod val="25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054F1-02D1-1D73-95C0-01AB58DBA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37586"/>
            <a:ext cx="4693794" cy="132556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GAME NAME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C9D48-0294-F755-A94F-8EAD9C8AB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198086"/>
            <a:ext cx="4693794" cy="2144796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1BC01-F2E8-FAD2-8799-DD9690B8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010" y="6483942"/>
            <a:ext cx="330960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903A4-0566-AE11-79E9-00CE7E0A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1616" y="6483941"/>
            <a:ext cx="7603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BCACCCC-9808-3749-D72C-BBB68165B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13492"/>
            <a:ext cx="4693795" cy="312738"/>
          </a:xfrm>
        </p:spPr>
        <p:txBody>
          <a:bodyPr>
            <a:normAutofit/>
          </a:bodyPr>
          <a:lstStyle>
            <a:lvl1pPr marL="0" indent="0">
              <a:buNone/>
              <a:defRPr sz="14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PORTFOLIO NAME HERE</a:t>
            </a:r>
          </a:p>
        </p:txBody>
      </p:sp>
    </p:spTree>
    <p:extLst>
      <p:ext uri="{BB962C8B-B14F-4D97-AF65-F5344CB8AC3E}">
        <p14:creationId xmlns:p14="http://schemas.microsoft.com/office/powerpoint/2010/main" val="33388632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V1">
    <p:bg>
      <p:bgPr>
        <a:gradFill flip="none" rotWithShape="1">
          <a:gsLst>
            <a:gs pos="0">
              <a:schemeClr val="bg1"/>
            </a:gs>
            <a:gs pos="100000">
              <a:srgbClr val="EDF0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nip Single Corner Rectangle 13">
            <a:extLst>
              <a:ext uri="{FF2B5EF4-FFF2-40B4-BE49-F238E27FC236}">
                <a16:creationId xmlns:a16="http://schemas.microsoft.com/office/drawing/2014/main" id="{55E89697-4490-BF22-7B6D-C0C3A0DBAFDB}"/>
              </a:ext>
            </a:extLst>
          </p:cNvPr>
          <p:cNvSpPr/>
          <p:nvPr userDrawn="1"/>
        </p:nvSpPr>
        <p:spPr>
          <a:xfrm rot="16200000">
            <a:off x="5153318" y="-184280"/>
            <a:ext cx="6858001" cy="7226553"/>
          </a:xfrm>
          <a:prstGeom prst="snip1Rect">
            <a:avLst>
              <a:gd name="adj" fmla="val 14562"/>
            </a:avLst>
          </a:prstGeom>
          <a:gradFill flip="none" rotWithShape="1">
            <a:gsLst>
              <a:gs pos="100000">
                <a:srgbClr val="9BA1FF"/>
              </a:gs>
              <a:gs pos="0">
                <a:srgbClr val="EDF0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054F1-02D1-1D73-95C0-01AB58DBA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0005" y="737586"/>
            <a:ext cx="4693794" cy="132556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GAME NAME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C9D48-0294-F755-A94F-8EAD9C8AB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0005" y="2198086"/>
            <a:ext cx="4693794" cy="2144796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BCACCCC-9808-3749-D72C-BBB68165B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0005" y="313492"/>
            <a:ext cx="4693795" cy="312738"/>
          </a:xfrm>
        </p:spPr>
        <p:txBody>
          <a:bodyPr>
            <a:normAutofit/>
          </a:bodyPr>
          <a:lstStyle>
            <a:lvl1pPr marL="0" indent="0">
              <a:buNone/>
              <a:defRPr sz="1400" b="1" spc="3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PORTFOLIO NAME HERE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049D4AA-41F7-E6F3-D218-A31829396AD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5" name="Picture 3">
              <a:extLst>
                <a:ext uri="{FF2B5EF4-FFF2-40B4-BE49-F238E27FC236}">
                  <a16:creationId xmlns:a16="http://schemas.microsoft.com/office/drawing/2014/main" id="{042F6F18-BFF1-0889-97F0-C878505B24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5D5A8D49-9419-7FDF-9F7B-1F759654FC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31A177-9785-7375-1413-480B5B3C0E8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D65932E5-FD1A-9EB0-2A60-33C3EDB9C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7022919-9B65-4DB6-1DDE-EDEF33F41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7587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V2">
    <p:bg>
      <p:bgPr>
        <a:gradFill flip="none" rotWithShape="1">
          <a:gsLst>
            <a:gs pos="0">
              <a:schemeClr val="bg1"/>
            </a:gs>
            <a:gs pos="100000">
              <a:srgbClr val="EDF0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nip Single Corner Rectangle 13">
            <a:extLst>
              <a:ext uri="{FF2B5EF4-FFF2-40B4-BE49-F238E27FC236}">
                <a16:creationId xmlns:a16="http://schemas.microsoft.com/office/drawing/2014/main" id="{55E89697-4490-BF22-7B6D-C0C3A0DBAFDB}"/>
              </a:ext>
            </a:extLst>
          </p:cNvPr>
          <p:cNvSpPr/>
          <p:nvPr userDrawn="1"/>
        </p:nvSpPr>
        <p:spPr>
          <a:xfrm rot="16200000">
            <a:off x="5149047" y="-180006"/>
            <a:ext cx="6866543" cy="7226553"/>
          </a:xfrm>
          <a:prstGeom prst="snip1Rect">
            <a:avLst>
              <a:gd name="adj" fmla="val 14562"/>
            </a:avLst>
          </a:prstGeom>
          <a:gradFill flip="none" rotWithShape="1">
            <a:gsLst>
              <a:gs pos="0">
                <a:srgbClr val="9BA1FF"/>
              </a:gs>
              <a:gs pos="100000">
                <a:srgbClr val="6657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054F1-02D1-1D73-95C0-01AB58DBA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0005" y="737586"/>
            <a:ext cx="4693794" cy="132556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GAME NAME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C9D48-0294-F755-A94F-8EAD9C8AB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0005" y="2198086"/>
            <a:ext cx="4693794" cy="2144796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BCACCCC-9808-3749-D72C-BBB68165B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0005" y="313492"/>
            <a:ext cx="4693795" cy="312738"/>
          </a:xfrm>
        </p:spPr>
        <p:txBody>
          <a:bodyPr>
            <a:normAutofit/>
          </a:bodyPr>
          <a:lstStyle>
            <a:lvl1pPr marL="0" indent="0">
              <a:buNone/>
              <a:defRPr sz="14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PORTFOLIO NAME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AC4330-CD95-EC8F-5D94-DB21F16E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A256B88-1310-4BA2-B497-94998FD3F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E09EB0-1CCD-DBDE-ECA7-6F1C25B79EB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D4A9E829-3319-617C-172D-B37C074029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3EA8E1AA-4E90-D10F-0F58-CE92A08396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5A7E72-2739-7B26-6D04-84201D74D7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77543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V3">
    <p:bg>
      <p:bgPr>
        <a:gradFill flip="none" rotWithShape="1">
          <a:gsLst>
            <a:gs pos="0">
              <a:schemeClr val="bg1"/>
            </a:gs>
            <a:gs pos="100000">
              <a:srgbClr val="EDF0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nip Single Corner Rectangle 13">
            <a:extLst>
              <a:ext uri="{FF2B5EF4-FFF2-40B4-BE49-F238E27FC236}">
                <a16:creationId xmlns:a16="http://schemas.microsoft.com/office/drawing/2014/main" id="{55E89697-4490-BF22-7B6D-C0C3A0DBAFDB}"/>
              </a:ext>
            </a:extLst>
          </p:cNvPr>
          <p:cNvSpPr/>
          <p:nvPr userDrawn="1"/>
        </p:nvSpPr>
        <p:spPr>
          <a:xfrm rot="16200000">
            <a:off x="5149047" y="-180006"/>
            <a:ext cx="6866543" cy="7226553"/>
          </a:xfrm>
          <a:prstGeom prst="snip1Rect">
            <a:avLst>
              <a:gd name="adj" fmla="val 14562"/>
            </a:avLst>
          </a:prstGeom>
          <a:gradFill flip="none" rotWithShape="1">
            <a:gsLst>
              <a:gs pos="100000">
                <a:srgbClr val="402C85"/>
              </a:gs>
              <a:gs pos="0">
                <a:srgbClr val="6657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054F1-02D1-1D73-95C0-01AB58DBA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0005" y="737586"/>
            <a:ext cx="4693794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GAME NAME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C9D48-0294-F755-A94F-8EAD9C8AB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0005" y="2198086"/>
            <a:ext cx="4693794" cy="2144796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BCACCCC-9808-3749-D72C-BBB68165B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0005" y="313492"/>
            <a:ext cx="4693795" cy="312738"/>
          </a:xfrm>
        </p:spPr>
        <p:txBody>
          <a:bodyPr>
            <a:normAutofit/>
          </a:bodyPr>
          <a:lstStyle>
            <a:lvl1pPr marL="0" indent="0">
              <a:buNone/>
              <a:defRPr sz="14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PORTFOLIO NAME HERE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F292157-713A-2F7A-314C-14CFE42D84E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5" name="Picture 3">
              <a:extLst>
                <a:ext uri="{FF2B5EF4-FFF2-40B4-BE49-F238E27FC236}">
                  <a16:creationId xmlns:a16="http://schemas.microsoft.com/office/drawing/2014/main" id="{5E1FC81C-3B36-0D7D-742E-9A9AA33D60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CB0F037F-F808-931B-CF4F-2048187347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2D5D8BC-71C9-7B1A-DD78-8D79A04167C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544CA36-0B63-D904-EBBE-5D7B1464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4769AF03-4AC7-A54B-7356-39D68D8A2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0255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V4">
    <p:bg>
      <p:bgPr>
        <a:gradFill flip="none" rotWithShape="1">
          <a:gsLst>
            <a:gs pos="0">
              <a:schemeClr val="bg1"/>
            </a:gs>
            <a:gs pos="100000">
              <a:srgbClr val="EDF0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nip Single Corner Rectangle 13">
            <a:extLst>
              <a:ext uri="{FF2B5EF4-FFF2-40B4-BE49-F238E27FC236}">
                <a16:creationId xmlns:a16="http://schemas.microsoft.com/office/drawing/2014/main" id="{55E89697-4490-BF22-7B6D-C0C3A0DBAFDB}"/>
              </a:ext>
            </a:extLst>
          </p:cNvPr>
          <p:cNvSpPr/>
          <p:nvPr userDrawn="1"/>
        </p:nvSpPr>
        <p:spPr>
          <a:xfrm rot="16200000">
            <a:off x="5149047" y="-180006"/>
            <a:ext cx="6866543" cy="7226553"/>
          </a:xfrm>
          <a:prstGeom prst="snip1Rect">
            <a:avLst>
              <a:gd name="adj" fmla="val 14562"/>
            </a:avLst>
          </a:prstGeom>
          <a:gradFill flip="none" rotWithShape="1">
            <a:gsLst>
              <a:gs pos="0">
                <a:srgbClr val="402C85"/>
              </a:gs>
              <a:gs pos="100000">
                <a:schemeClr val="tx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054F1-02D1-1D73-95C0-01AB58DBA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0005" y="737586"/>
            <a:ext cx="4693794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GAME NAME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C9D48-0294-F755-A94F-8EAD9C8AB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0005" y="2198086"/>
            <a:ext cx="4693794" cy="2144796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BCACCCC-9808-3749-D72C-BBB68165B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0005" y="313492"/>
            <a:ext cx="4693795" cy="312738"/>
          </a:xfrm>
        </p:spPr>
        <p:txBody>
          <a:bodyPr>
            <a:normAutofit/>
          </a:bodyPr>
          <a:lstStyle>
            <a:lvl1pPr marL="0" indent="0">
              <a:buNone/>
              <a:defRPr sz="14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PORTFOLIO NAME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705DD-3F5B-37B3-67B5-234B6DE55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05C543B-0475-12DB-FCB9-ADE5FEAEB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4D64B83-F209-9791-E5E7-9E17C611028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2AD1EDE8-1F5E-0760-A912-D066D25C48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BD92F7FC-9C6A-C520-7ED4-E2D90D9DF5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11D8851-922C-6413-4C9F-3985018D20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92650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folio V4">
    <p:bg>
      <p:bgPr>
        <a:gradFill flip="none" rotWithShape="1">
          <a:gsLst>
            <a:gs pos="0">
              <a:schemeClr val="bg1"/>
            </a:gs>
            <a:gs pos="100000">
              <a:srgbClr val="EDF0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nip Single Corner Rectangle 13">
            <a:extLst>
              <a:ext uri="{FF2B5EF4-FFF2-40B4-BE49-F238E27FC236}">
                <a16:creationId xmlns:a16="http://schemas.microsoft.com/office/drawing/2014/main" id="{55E89697-4490-BF22-7B6D-C0C3A0DBAFDB}"/>
              </a:ext>
            </a:extLst>
          </p:cNvPr>
          <p:cNvSpPr/>
          <p:nvPr userDrawn="1"/>
        </p:nvSpPr>
        <p:spPr>
          <a:xfrm rot="16200000">
            <a:off x="5149047" y="-180006"/>
            <a:ext cx="6866543" cy="7226553"/>
          </a:xfrm>
          <a:prstGeom prst="snip1Rect">
            <a:avLst>
              <a:gd name="adj" fmla="val 14562"/>
            </a:avLst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100000">
                <a:schemeClr val="tx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054F1-02D1-1D73-95C0-01AB58DBA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0005" y="737586"/>
            <a:ext cx="4693794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GAME NAME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C9D48-0294-F755-A94F-8EAD9C8AB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0005" y="2198086"/>
            <a:ext cx="4693794" cy="2144796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BCACCCC-9808-3749-D72C-BBB68165B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0005" y="313492"/>
            <a:ext cx="4693795" cy="312738"/>
          </a:xfrm>
        </p:spPr>
        <p:txBody>
          <a:bodyPr>
            <a:normAutofit/>
          </a:bodyPr>
          <a:lstStyle>
            <a:lvl1pPr marL="0" indent="0">
              <a:buNone/>
              <a:defRPr sz="14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PORTFOLIO NAME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4C4897-F655-1282-56B2-383360125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4F3B54E-C57F-8537-D8C5-A840EE87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C4DADDB-EEE1-23CC-BBFB-7C8C5CCA8C4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06F7D45A-409B-694D-8E1A-130CA3F9B4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C0A7F4A9-9A3E-B771-B093-566C4EAADD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FF20715-5362-D497-CD0A-DE09AAE8C17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26899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ortfolio V4">
    <p:bg>
      <p:bgPr>
        <a:gradFill flip="none" rotWithShape="1">
          <a:gsLst>
            <a:gs pos="0">
              <a:schemeClr val="bg1"/>
            </a:gs>
            <a:gs pos="100000">
              <a:srgbClr val="EDF0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nip Single Corner Rectangle 13">
            <a:extLst>
              <a:ext uri="{FF2B5EF4-FFF2-40B4-BE49-F238E27FC236}">
                <a16:creationId xmlns:a16="http://schemas.microsoft.com/office/drawing/2014/main" id="{55E89697-4490-BF22-7B6D-C0C3A0DBAFDB}"/>
              </a:ext>
            </a:extLst>
          </p:cNvPr>
          <p:cNvSpPr/>
          <p:nvPr userDrawn="1"/>
        </p:nvSpPr>
        <p:spPr>
          <a:xfrm rot="16200000">
            <a:off x="5149048" y="-180007"/>
            <a:ext cx="6866542" cy="7226553"/>
          </a:xfrm>
          <a:prstGeom prst="snip1Rect">
            <a:avLst>
              <a:gd name="adj" fmla="val 14562"/>
            </a:avLst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100000">
                <a:schemeClr val="tx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054F1-02D1-1D73-95C0-01AB58DBA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0005" y="737586"/>
            <a:ext cx="4693794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GAME NAME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C9D48-0294-F755-A94F-8EAD9C8AB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0005" y="2198086"/>
            <a:ext cx="4693794" cy="2144796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BCACCCC-9808-3749-D72C-BBB68165B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0005" y="313492"/>
            <a:ext cx="4693795" cy="312738"/>
          </a:xfrm>
        </p:spPr>
        <p:txBody>
          <a:bodyPr>
            <a:normAutofit/>
          </a:bodyPr>
          <a:lstStyle>
            <a:lvl1pPr marL="0" indent="0">
              <a:buNone/>
              <a:defRPr sz="14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PORTFOLIO NAME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944388-F123-18FD-4AC2-7E585789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6284CDE-13FF-BC6C-34FF-6C69E989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C0B8BB3-EA42-3FF9-9D87-CBE65A511F3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46E5039A-A235-2D0D-3CC4-A7B4E9D6DD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0DE331E0-72C3-2EFD-F0BA-F7279BF4EC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5845E7D-F811-37F3-4112-7D246D2A96B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93028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ortfolio V4">
    <p:bg>
      <p:bgPr>
        <a:gradFill flip="none" rotWithShape="1">
          <a:gsLst>
            <a:gs pos="0">
              <a:schemeClr val="bg1"/>
            </a:gs>
            <a:gs pos="100000">
              <a:srgbClr val="EDF0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nip Single Corner Rectangle 13">
            <a:extLst>
              <a:ext uri="{FF2B5EF4-FFF2-40B4-BE49-F238E27FC236}">
                <a16:creationId xmlns:a16="http://schemas.microsoft.com/office/drawing/2014/main" id="{55E89697-4490-BF22-7B6D-C0C3A0DBAFDB}"/>
              </a:ext>
            </a:extLst>
          </p:cNvPr>
          <p:cNvSpPr/>
          <p:nvPr userDrawn="1"/>
        </p:nvSpPr>
        <p:spPr>
          <a:xfrm rot="16200000">
            <a:off x="5149048" y="-180007"/>
            <a:ext cx="6866542" cy="7226553"/>
          </a:xfrm>
          <a:prstGeom prst="snip1Rect">
            <a:avLst>
              <a:gd name="adj" fmla="val 14562"/>
            </a:avLst>
          </a:prstGeom>
          <a:gradFill flip="none" rotWithShape="1">
            <a:gsLst>
              <a:gs pos="0">
                <a:srgbClr val="FF6600"/>
              </a:gs>
              <a:gs pos="100000">
                <a:schemeClr val="tx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054F1-02D1-1D73-95C0-01AB58DBA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0005" y="737586"/>
            <a:ext cx="4693794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GAME NAME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C9D48-0294-F755-A94F-8EAD9C8AB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0005" y="2198086"/>
            <a:ext cx="4693794" cy="2144796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BCACCCC-9808-3749-D72C-BBB68165B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0005" y="313492"/>
            <a:ext cx="4693795" cy="312738"/>
          </a:xfrm>
        </p:spPr>
        <p:txBody>
          <a:bodyPr>
            <a:normAutofit/>
          </a:bodyPr>
          <a:lstStyle>
            <a:lvl1pPr marL="0" indent="0">
              <a:buNone/>
              <a:defRPr sz="14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PORTFOLIO NAME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E7C581-A90C-DB64-6A72-7E9543A99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397E833-9CCE-C627-A37F-F279F3D9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82E7A1B-F96C-C4E0-4871-D3A3F088265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EC8B1506-CC9E-0700-A14D-2C37656D7A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DBFD0E3-B5FA-F662-90D1-091475088A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00C5154-B2FE-155B-C98F-FFAC101058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87225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ortfolio V4">
    <p:bg>
      <p:bgPr>
        <a:gradFill flip="none" rotWithShape="1">
          <a:gsLst>
            <a:gs pos="0">
              <a:schemeClr val="bg1"/>
            </a:gs>
            <a:gs pos="100000">
              <a:srgbClr val="EDF0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nip Single Corner Rectangle 13">
            <a:extLst>
              <a:ext uri="{FF2B5EF4-FFF2-40B4-BE49-F238E27FC236}">
                <a16:creationId xmlns:a16="http://schemas.microsoft.com/office/drawing/2014/main" id="{55E89697-4490-BF22-7B6D-C0C3A0DBAFDB}"/>
              </a:ext>
            </a:extLst>
          </p:cNvPr>
          <p:cNvSpPr/>
          <p:nvPr userDrawn="1"/>
        </p:nvSpPr>
        <p:spPr>
          <a:xfrm rot="16200000">
            <a:off x="5149047" y="-180006"/>
            <a:ext cx="6866543" cy="7226553"/>
          </a:xfrm>
          <a:prstGeom prst="snip1Rect">
            <a:avLst>
              <a:gd name="adj" fmla="val 14562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tx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054F1-02D1-1D73-95C0-01AB58DBA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0005" y="737586"/>
            <a:ext cx="4693794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GAME NAME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C9D48-0294-F755-A94F-8EAD9C8AB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0005" y="2198086"/>
            <a:ext cx="4693794" cy="2144796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BCACCCC-9808-3749-D72C-BBB68165B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0005" y="313492"/>
            <a:ext cx="4693795" cy="312738"/>
          </a:xfrm>
        </p:spPr>
        <p:txBody>
          <a:bodyPr>
            <a:normAutofit/>
          </a:bodyPr>
          <a:lstStyle>
            <a:lvl1pPr marL="0" indent="0">
              <a:buNone/>
              <a:defRPr sz="14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PORTFOLIO NAME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44C92-3464-294A-37D9-74EF6F8D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 HERE ALL CAPS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7953BDF-BC1D-53FD-16CE-688E6855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FF1B80F-A58A-33BC-030C-50AA8012F00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1499" y="6534618"/>
            <a:ext cx="1479101" cy="210312"/>
            <a:chOff x="857250" y="724348"/>
            <a:chExt cx="4917722" cy="699247"/>
          </a:xfrm>
          <a:solidFill>
            <a:schemeClr val="tx1"/>
          </a:solidFill>
        </p:grpSpPr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28F00F1F-07E1-1FB9-FAAD-9C09EE47CA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57250" y="757446"/>
              <a:ext cx="1720937" cy="633356"/>
            </a:xfrm>
            <a:prstGeom prst="rect">
              <a:avLst/>
            </a:prstGeom>
            <a:noFill/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3A463B24-1669-B6F3-7362-E3FBF664AA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18535" y="754454"/>
              <a:ext cx="2356437" cy="639342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7A826D-61AC-6893-FFFF-1DBA190677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998362" y="724348"/>
              <a:ext cx="0" cy="699247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6193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F80D5D-8B90-D628-1004-C9B297AB2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36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59BD9-458F-A33D-0A7C-17C1007EE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F055E-E94E-6246-CDA0-4E2E3595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3752" y="6492874"/>
            <a:ext cx="59526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tint val="82000"/>
                  </a:schemeClr>
                </a:solidFill>
                <a:latin typeface="Grandview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F3E17-CD43-3FCB-13F2-D577DE5E3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9017" y="6492874"/>
            <a:ext cx="7603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Grandview" panose="020B0502040204020203" pitchFamily="34" charset="0"/>
              </a:defRPr>
            </a:lvl1pPr>
          </a:lstStyle>
          <a:p>
            <a:fld id="{B2571733-94F1-0047-BD22-F47C1F6CFA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15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Grandview" panose="020B0502040204020203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randview" panose="020B0502040204020203" pitchFamily="34" charset="0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randview" panose="020B0502040204020203" pitchFamily="34" charset="0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randview" panose="020B0502040204020203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Grandview" panose="020B0502040204020203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randview" panose="020B0502040204020203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81AE3E-A307-A4F6-4CF4-AE8FB7B722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Soheil Latifi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0526-9645-4E99-7E9C-00F5FBA62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012" y="1801987"/>
            <a:ext cx="10388412" cy="2387600"/>
          </a:xfrm>
        </p:spPr>
        <p:txBody>
          <a:bodyPr/>
          <a:lstStyle/>
          <a:p>
            <a:r>
              <a:rPr lang="en-US" dirty="0"/>
              <a:t>Demand </a:t>
            </a:r>
            <a:r>
              <a:rPr lang="en-US" dirty="0" err="1"/>
              <a:t>Forecast:Clustering</a:t>
            </a:r>
            <a:r>
              <a:rPr lang="en-US" dirty="0"/>
              <a:t> Results </a:t>
            </a:r>
          </a:p>
        </p:txBody>
      </p:sp>
    </p:spTree>
    <p:extLst>
      <p:ext uri="{BB962C8B-B14F-4D97-AF65-F5344CB8AC3E}">
        <p14:creationId xmlns:p14="http://schemas.microsoft.com/office/powerpoint/2010/main" val="692926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2EA936-E5BB-B9C5-A305-DE67B984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+mn-cs"/>
              </a:rPr>
              <a:t>OBJECTIVE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A412D9-D506-F5DB-A5B7-8A91F4CDD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571733-94F1-0047-BD22-F47C1F6CFA9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ndview" panose="020B0502040204020203" pitchFamily="34" charset="0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077B6-C4E9-E75D-98A9-CFF6D4474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06424"/>
            <a:ext cx="10515598" cy="4989577"/>
          </a:xfrm>
        </p:spPr>
        <p:txBody>
          <a:bodyPr/>
          <a:lstStyle/>
          <a:p>
            <a:r>
              <a:rPr lang="en-US" dirty="0"/>
              <a:t>Objectives.</a:t>
            </a:r>
          </a:p>
          <a:p>
            <a:r>
              <a:rPr lang="en-US" dirty="0"/>
              <a:t>Datasets overview</a:t>
            </a:r>
          </a:p>
          <a:p>
            <a:r>
              <a:rPr lang="en-US" dirty="0"/>
              <a:t>Clustering workflow</a:t>
            </a:r>
          </a:p>
          <a:p>
            <a:r>
              <a:rPr lang="en-US" dirty="0"/>
              <a:t>Clustering features.</a:t>
            </a:r>
          </a:p>
          <a:p>
            <a:r>
              <a:rPr lang="en-US" dirty="0"/>
              <a:t>Clusters explained</a:t>
            </a:r>
          </a:p>
          <a:p>
            <a:r>
              <a:rPr lang="en-US" dirty="0"/>
              <a:t>Next steps.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63B7748-CC53-6892-793C-AD532F4F0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197552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6D1789-493E-A666-34C8-1174AEB47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SECTION NAME HERE ALL CAPS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E44946-A3A4-2D97-6E8D-C392FE0B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71733-94F1-0047-BD22-F47C1F6CFA9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E04B0-8361-B134-97B2-CEC7F3508B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3544" y="1316736"/>
            <a:ext cx="10430254" cy="4779265"/>
          </a:xfrm>
        </p:spPr>
        <p:txBody>
          <a:bodyPr/>
          <a:lstStyle/>
          <a:p>
            <a:r>
              <a:rPr lang="en-US" dirty="0"/>
              <a:t>Building Game Attribute features used for similarity.</a:t>
            </a:r>
          </a:p>
          <a:p>
            <a:r>
              <a:rPr lang="en-US" dirty="0"/>
              <a:t>Developing a clustering pipeline make cohorts of game families</a:t>
            </a:r>
          </a:p>
          <a:p>
            <a:pPr lvl="1"/>
            <a:r>
              <a:rPr lang="en-US" dirty="0"/>
              <a:t>The cohorts should be similar in :</a:t>
            </a:r>
          </a:p>
          <a:p>
            <a:pPr lvl="2"/>
            <a:r>
              <a:rPr lang="en-US" dirty="0"/>
              <a:t>Theme</a:t>
            </a:r>
          </a:p>
          <a:p>
            <a:pPr lvl="2"/>
            <a:r>
              <a:rPr lang="en-US" dirty="0"/>
              <a:t>Math type</a:t>
            </a:r>
          </a:p>
          <a:p>
            <a:pPr lvl="2"/>
            <a:r>
              <a:rPr lang="en-US" dirty="0"/>
              <a:t>Core or premium </a:t>
            </a:r>
          </a:p>
          <a:p>
            <a:r>
              <a:rPr lang="en-US" dirty="0"/>
              <a:t>Finding the similar games for each holdout game ( recent games) </a:t>
            </a:r>
          </a:p>
          <a:p>
            <a:r>
              <a:rPr lang="en-US" dirty="0"/>
              <a:t>The similar game should have enough history for conducting the prediction.</a:t>
            </a:r>
          </a:p>
          <a:p>
            <a:r>
              <a:rPr lang="en-US" dirty="0"/>
              <a:t>Forecasting the recent game performance and sales using historical data.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C8C8EA-585C-E734-AB45-03027A7B0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22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108CD3-0AB7-98EE-AB58-27329DFD7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SECTION NAME HERE ALL CAPS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12D4FC-C76C-D948-65E0-E06F9A57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71733-94F1-0047-BD22-F47C1F6CFA9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F49D5-3767-B3C4-C572-7F5ABAB05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520" y="1252728"/>
            <a:ext cx="10622278" cy="484327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Eilers Performance Data:</a:t>
            </a:r>
          </a:p>
          <a:p>
            <a:pPr lvl="1"/>
            <a:r>
              <a:rPr lang="en-US" dirty="0"/>
              <a:t>Performance data collected for theme/cabinet combos</a:t>
            </a:r>
          </a:p>
          <a:p>
            <a:pPr lvl="1"/>
            <a:r>
              <a:rPr lang="en-US" dirty="0"/>
              <a:t>Core/Premium flag</a:t>
            </a:r>
          </a:p>
          <a:p>
            <a:pPr lvl="1"/>
            <a:r>
              <a:rPr lang="en-US" dirty="0"/>
              <a:t>Game release date flag</a:t>
            </a:r>
          </a:p>
          <a:p>
            <a:pPr lvl="1"/>
            <a:r>
              <a:rPr lang="en-US" dirty="0"/>
              <a:t>Game type flag </a:t>
            </a:r>
          </a:p>
          <a:p>
            <a:r>
              <a:rPr lang="en-US" dirty="0"/>
              <a:t>Attribute data:</a:t>
            </a:r>
          </a:p>
          <a:p>
            <a:pPr lvl="1"/>
            <a:r>
              <a:rPr lang="en-US" dirty="0"/>
              <a:t>Product family: cabinet related information </a:t>
            </a:r>
          </a:p>
          <a:p>
            <a:pPr lvl="1"/>
            <a:r>
              <a:rPr lang="en-US" dirty="0"/>
              <a:t>Math model family: Bingo lottery etc. </a:t>
            </a:r>
          </a:p>
          <a:p>
            <a:pPr lvl="1"/>
            <a:r>
              <a:rPr lang="en-US" dirty="0"/>
              <a:t>Game type </a:t>
            </a:r>
          </a:p>
          <a:p>
            <a:pPr lvl="1"/>
            <a:r>
              <a:rPr lang="en-US" dirty="0"/>
              <a:t>RTP: missing</a:t>
            </a:r>
          </a:p>
          <a:p>
            <a:pPr lvl="1"/>
            <a:r>
              <a:rPr lang="en-US" dirty="0"/>
              <a:t>Volatility: missing.</a:t>
            </a:r>
          </a:p>
          <a:p>
            <a:pPr lvl="1"/>
            <a:r>
              <a:rPr lang="en-US" dirty="0"/>
              <a:t>Number of lines: missing.</a:t>
            </a:r>
          </a:p>
          <a:p>
            <a:pPr lvl="1"/>
            <a:r>
              <a:rPr lang="en-US" dirty="0"/>
              <a:t>Max and min bet: missing.</a:t>
            </a:r>
          </a:p>
          <a:p>
            <a:pPr lvl="1"/>
            <a:r>
              <a:rPr lang="en-US" dirty="0"/>
              <a:t>Own status: missing.</a:t>
            </a:r>
          </a:p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The join between these 2 is necessary, </a:t>
            </a:r>
            <a:r>
              <a:rPr lang="en-CA" dirty="0"/>
              <a:t>1373</a:t>
            </a:r>
            <a:r>
              <a:rPr lang="en-CA" dirty="0">
                <a:solidFill>
                  <a:srgbClr val="FF0000"/>
                </a:solidFill>
              </a:rPr>
              <a:t> of </a:t>
            </a:r>
            <a:r>
              <a:rPr lang="en-CA" dirty="0"/>
              <a:t>3,146</a:t>
            </a:r>
            <a:r>
              <a:rPr lang="en-CA" dirty="0">
                <a:solidFill>
                  <a:srgbClr val="FF0000"/>
                </a:solidFill>
              </a:rPr>
              <a:t> unique games in attribute data can be joined with Eilers performance data after cleaning.</a:t>
            </a:r>
          </a:p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138 games were kept for holdout. </a:t>
            </a:r>
          </a:p>
          <a:p>
            <a:pPr marL="0" indent="0">
              <a:buNone/>
            </a:pPr>
            <a:r>
              <a:rPr lang="en-CA" dirty="0">
                <a:solidFill>
                  <a:srgbClr val="FF0000"/>
                </a:solidFill>
              </a:rPr>
              <a:t>Important features such as RTP, Volatility max-bet etc. are missing.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865555-C114-F458-C66F-25C52341F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Datasets overview</a:t>
            </a:r>
            <a:br>
              <a:rPr lang="en-US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07484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ACE74F-2389-4BEE-7CAE-059F1C25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SECTION NAME HERE ALL CAPS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B84677-FACD-691C-079D-7EE3818D0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71733-94F1-0047-BD22-F47C1F6CFA9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35B95-8977-C92D-50F6-D4A6EF162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216152"/>
            <a:ext cx="10515600" cy="4879849"/>
          </a:xfrm>
        </p:spPr>
        <p:txBody>
          <a:bodyPr/>
          <a:lstStyle/>
          <a:p>
            <a:r>
              <a:rPr lang="en-US" dirty="0"/>
              <a:t>Game names were cleaned from typos etc.</a:t>
            </a:r>
          </a:p>
          <a:p>
            <a:r>
              <a:rPr lang="en-US" dirty="0"/>
              <a:t>Niche theme types were unified for broader categories. (82-&gt;10)</a:t>
            </a:r>
          </a:p>
          <a:p>
            <a:r>
              <a:rPr lang="en-US" dirty="0"/>
              <a:t>130 games were set aside for clustering inference. (released in 2025-2026)</a:t>
            </a:r>
          </a:p>
          <a:p>
            <a:r>
              <a:rPr lang="en-US" dirty="0"/>
              <a:t>Features are weighted as requested. </a:t>
            </a:r>
          </a:p>
          <a:p>
            <a:r>
              <a:rPr lang="en-US" dirty="0"/>
              <a:t>Using elbow method, the games were clustered </a:t>
            </a:r>
          </a:p>
          <a:p>
            <a:r>
              <a:rPr lang="en-CA" dirty="0"/>
              <a:t>The similarity method is Cosine metric (categorical features are dominant) </a:t>
            </a:r>
          </a:p>
          <a:p>
            <a:r>
              <a:rPr lang="en-CA" dirty="0"/>
              <a:t>Using Agglomerative clustering with full linkage as instructed.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3C8A63-DA10-8644-2EA9-2F1C71B73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Clustering workflow</a:t>
            </a:r>
          </a:p>
        </p:txBody>
      </p:sp>
    </p:spTree>
    <p:extLst>
      <p:ext uri="{BB962C8B-B14F-4D97-AF65-F5344CB8AC3E}">
        <p14:creationId xmlns:p14="http://schemas.microsoft.com/office/powerpoint/2010/main" val="24821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48163C-F6FA-8BB1-3A12-751DE1810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SECTION NAME HERE ALL CAPS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536409-629F-E104-DEB9-2A9AC6B6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71733-94F1-0047-BD22-F47C1F6CFA9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FC1096-F97B-A773-15A7-61955AED9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Clustering Features overview:</a:t>
            </a:r>
            <a:endParaRPr lang="en-CA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9702FDB-FE4E-E4CF-8DAF-517238C57C0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40045961"/>
              </p:ext>
            </p:extLst>
          </p:nvPr>
        </p:nvGraphicFramePr>
        <p:xfrm>
          <a:off x="972452" y="999858"/>
          <a:ext cx="8957930" cy="4422586"/>
        </p:xfrm>
        <a:graphic>
          <a:graphicData uri="http://schemas.openxmlformats.org/drawingml/2006/table">
            <a:tbl>
              <a:tblPr/>
              <a:tblGrid>
                <a:gridCol w="1791586">
                  <a:extLst>
                    <a:ext uri="{9D8B030D-6E8A-4147-A177-3AD203B41FA5}">
                      <a16:colId xmlns:a16="http://schemas.microsoft.com/office/drawing/2014/main" val="1136495050"/>
                    </a:ext>
                  </a:extLst>
                </a:gridCol>
                <a:gridCol w="1791586">
                  <a:extLst>
                    <a:ext uri="{9D8B030D-6E8A-4147-A177-3AD203B41FA5}">
                      <a16:colId xmlns:a16="http://schemas.microsoft.com/office/drawing/2014/main" val="2703441016"/>
                    </a:ext>
                  </a:extLst>
                </a:gridCol>
                <a:gridCol w="1791586">
                  <a:extLst>
                    <a:ext uri="{9D8B030D-6E8A-4147-A177-3AD203B41FA5}">
                      <a16:colId xmlns:a16="http://schemas.microsoft.com/office/drawing/2014/main" val="802387694"/>
                    </a:ext>
                  </a:extLst>
                </a:gridCol>
                <a:gridCol w="1791586">
                  <a:extLst>
                    <a:ext uri="{9D8B030D-6E8A-4147-A177-3AD203B41FA5}">
                      <a16:colId xmlns:a16="http://schemas.microsoft.com/office/drawing/2014/main" val="2588902450"/>
                    </a:ext>
                  </a:extLst>
                </a:gridCol>
                <a:gridCol w="1791586">
                  <a:extLst>
                    <a:ext uri="{9D8B030D-6E8A-4147-A177-3AD203B41FA5}">
                      <a16:colId xmlns:a16="http://schemas.microsoft.com/office/drawing/2014/main" val="2581206400"/>
                    </a:ext>
                  </a:extLst>
                </a:gridCol>
              </a:tblGrid>
              <a:tr h="394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Feature Category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Source Field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Type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Feature Count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Base Weight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182179"/>
                  </a:ext>
                </a:extLst>
              </a:tr>
              <a:tr h="398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Game matrix / mechanics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 err="1">
                          <a:latin typeface="Courier New" panose="02070309020205020404" pitchFamily="49" charset="0"/>
                        </a:rPr>
                        <a:t>game_matrix</a:t>
                      </a:r>
                      <a:endParaRPr lang="en-CA" sz="1100" dirty="0"/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Categorical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15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1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866803"/>
                  </a:ext>
                </a:extLst>
              </a:tr>
              <a:tr h="394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Multi-game flag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>
                          <a:latin typeface="Courier New" panose="02070309020205020404" pitchFamily="49" charset="0"/>
                        </a:rPr>
                        <a:t>is_multi_game</a:t>
                      </a:r>
                      <a:endParaRPr lang="en-CA" sz="1100"/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Boolean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1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2.60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974661"/>
                  </a:ext>
                </a:extLst>
              </a:tr>
              <a:tr h="228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WAP flag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>
                          <a:latin typeface="Courier New" panose="02070309020205020404" pitchFamily="49" charset="0"/>
                        </a:rPr>
                        <a:t>is_wap</a:t>
                      </a:r>
                      <a:endParaRPr lang="en-CA" sz="1100"/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Boolean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1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2.20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016808"/>
                  </a:ext>
                </a:extLst>
              </a:tr>
              <a:tr h="394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Multi-denom flag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>
                          <a:latin typeface="Courier New" panose="02070309020205020404" pitchFamily="49" charset="0"/>
                        </a:rPr>
                        <a:t>is_multi_denom</a:t>
                      </a:r>
                      <a:endParaRPr lang="en-CA" sz="1100"/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Boolean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1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1.90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026447"/>
                  </a:ext>
                </a:extLst>
              </a:tr>
              <a:tr h="228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Poker flag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>
                          <a:latin typeface="Courier New" panose="02070309020205020404" pitchFamily="49" charset="0"/>
                        </a:rPr>
                        <a:t>is_poker</a:t>
                      </a:r>
                      <a:endParaRPr lang="en-CA" sz="1100"/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Boolean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1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1.90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068121"/>
                  </a:ext>
                </a:extLst>
              </a:tr>
              <a:tr h="394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Product segment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>
                          <a:latin typeface="Courier New" panose="02070309020205020404" pitchFamily="49" charset="0"/>
                        </a:rPr>
                        <a:t>product_segment</a:t>
                      </a:r>
                      <a:endParaRPr lang="en-CA" sz="1100"/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Categorical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9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1.80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832213"/>
                  </a:ext>
                </a:extLst>
              </a:tr>
              <a:tr h="398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Game class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 err="1">
                          <a:latin typeface="Courier New" panose="02070309020205020404" pitchFamily="49" charset="0"/>
                        </a:rPr>
                        <a:t>game_classification</a:t>
                      </a:r>
                      <a:endParaRPr lang="en-CA" sz="1100" dirty="0"/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Categorical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5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1.50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751983"/>
                  </a:ext>
                </a:extLst>
              </a:tr>
              <a:tr h="398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Theme category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 err="1">
                          <a:latin typeface="Courier New" panose="02070309020205020404" pitchFamily="49" charset="0"/>
                        </a:rPr>
                        <a:t>semantic_theme_bucket</a:t>
                      </a:r>
                      <a:endParaRPr lang="en-CA" sz="1100" dirty="0"/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Categorical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10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1.40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193"/>
                  </a:ext>
                </a:extLst>
              </a:tr>
              <a:tr h="398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Own status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>
                          <a:latin typeface="Courier New" panose="02070309020205020404" pitchFamily="49" charset="0"/>
                        </a:rPr>
                        <a:t>parent_own_status</a:t>
                      </a:r>
                      <a:endParaRPr lang="en-CA" sz="1100"/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Categorical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3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1.30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271441"/>
                  </a:ext>
                </a:extLst>
              </a:tr>
              <a:tr h="394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Product family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 err="1">
                          <a:latin typeface="Courier New" panose="02070309020205020404" pitchFamily="49" charset="0"/>
                        </a:rPr>
                        <a:t>product_family</a:t>
                      </a:r>
                      <a:endParaRPr lang="en-CA" sz="1100" dirty="0"/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Categorical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4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1.00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916593"/>
                  </a:ext>
                </a:extLst>
              </a:tr>
              <a:tr h="398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Release age bucket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>
                          <a:latin typeface="Courier New" panose="02070309020205020404" pitchFamily="49" charset="0"/>
                        </a:rPr>
                        <a:t>release_age_bucket</a:t>
                      </a:r>
                      <a:endParaRPr lang="en-CA" sz="1100"/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Categorical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/>
                        <a:t>6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dirty="0"/>
                        <a:t>0.30</a:t>
                      </a:r>
                    </a:p>
                  </a:txBody>
                  <a:tcPr marL="56982" marR="56982" marT="28491" marB="284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252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131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E17492-B5D5-E547-14B1-E5A3CB14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SECTION NAME HERE ALL CAPS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896BD9-53AC-9313-D04E-77716E05F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71733-94F1-0047-BD22-F47C1F6CFA90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5D9F606-2315-C962-5F62-587650FCD6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061" y="1142923"/>
            <a:ext cx="8229878" cy="457215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4344509-A437-E363-200C-B29104FF6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Clustering results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74455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1785CC0-15F8-DA47-E110-B85391142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SECTION NAME HERE ALL CAPS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90F153-773B-F50D-1B37-802588D2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71733-94F1-0047-BD22-F47C1F6CFA90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CF6D7E4-18E6-B175-6079-0B9FEFDFD9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96" y="1237602"/>
            <a:ext cx="5599304" cy="466942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4344377-36BD-7414-3A0B-F28B140B0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Dendrogram of the resulting clusters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3B4A6F-F08E-9FA3-A6B2-9530343B83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14329"/>
            <a:ext cx="5756204" cy="402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67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3B4A4A1-9034-1C38-D8EB-31E3259B42BE}"/>
              </a:ext>
            </a:extLst>
          </p:cNvPr>
          <p:cNvSpPr txBox="1"/>
          <p:nvPr/>
        </p:nvSpPr>
        <p:spPr>
          <a:xfrm>
            <a:off x="838200" y="1825625"/>
            <a:ext cx="4952999" cy="4270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594" indent="-228594" defTabSz="914377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>
                <a:latin typeface="Grandview" panose="020B0502040204020203" pitchFamily="34" charset="0"/>
              </a:rPr>
              <a:t>Historical examples: 7 Spins; 7 Spins HD; Aeronauts; Alakazam; Antony &amp; Cleopatra; Arriba; Bank Heist; Beerfest; Best In Show; Big Hit Cash</a:t>
            </a:r>
            <a:br>
              <a:rPr lang="en-US" sz="2000">
                <a:latin typeface="Grandview" panose="020B0502040204020203" pitchFamily="34" charset="0"/>
              </a:rPr>
            </a:br>
            <a:r>
              <a:rPr lang="en-US" sz="2000">
                <a:latin typeface="Grandview" panose="020B0502040204020203" pitchFamily="34" charset="0"/>
              </a:rPr>
              <a:t>Holdout example: 888 Drums Eternity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232072D-B43E-F044-63BB-6D94C3D5D3C2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053" y="1209136"/>
            <a:ext cx="5625747" cy="3051968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14C91C9-24A7-70F0-A340-E403FE4A3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9074"/>
            <a:ext cx="10515600" cy="5107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b="1" i="0" kern="1200">
                <a:latin typeface="Grandview" panose="020B0502040204020203" pitchFamily="34" charset="0"/>
                <a:ea typeface="+mj-ea"/>
                <a:cs typeface="+mj-cs"/>
              </a:rPr>
              <a:t>Cluster 1: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D59DBC-0260-90C2-EBFA-2FC1C7ED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spc="300">
                <a:latin typeface="Grandview" panose="020B0502040204020203" pitchFamily="34" charset="0"/>
                <a:ea typeface="+mn-ea"/>
                <a:cs typeface="+mn-cs"/>
              </a:rPr>
              <a:t>SECTION NAME HERE ALL CAPS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CA45A-FBC7-49FF-9966-EB9A29179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571733-94F1-0047-BD22-F47C1F6CFA90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78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CABF8-3810-0C43-A7EF-A93BD3AB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69E3739-4877-83DE-91ED-2A3BC704E68C}"/>
              </a:ext>
            </a:extLst>
          </p:cNvPr>
          <p:cNvSpPr txBox="1"/>
          <p:nvPr/>
        </p:nvSpPr>
        <p:spPr>
          <a:xfrm>
            <a:off x="838200" y="1825625"/>
            <a:ext cx="4952999" cy="4270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594" indent="-228594" defTabSz="914377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Grandview" panose="020B0502040204020203" pitchFamily="34" charset="0"/>
              </a:rPr>
              <a:t>Historical examples: 7 Spins 50; 9 Diamonds; Aztec Banner; Bai Shou Feng Xiang; Bao Gong; Black Diamond; </a:t>
            </a:r>
            <a:r>
              <a:rPr lang="en-US" sz="2000" dirty="0" err="1">
                <a:latin typeface="Grandview" panose="020B0502040204020203" pitchFamily="34" charset="0"/>
              </a:rPr>
              <a:t>Blazin</a:t>
            </a:r>
            <a:r>
              <a:rPr lang="en-US" sz="2000" dirty="0">
                <a:latin typeface="Grandview" panose="020B0502040204020203" pitchFamily="34" charset="0"/>
              </a:rPr>
              <a:t>' Ice; </a:t>
            </a:r>
            <a:r>
              <a:rPr lang="en-US" sz="2000" dirty="0" err="1">
                <a:latin typeface="Grandview" panose="020B0502040204020203" pitchFamily="34" charset="0"/>
              </a:rPr>
              <a:t>Blazin</a:t>
            </a:r>
            <a:r>
              <a:rPr lang="en-US" sz="2000" dirty="0">
                <a:latin typeface="Grandview" panose="020B0502040204020203" pitchFamily="34" charset="0"/>
              </a:rPr>
              <a:t>' Jewels; </a:t>
            </a:r>
            <a:r>
              <a:rPr lang="en-US" sz="2000" dirty="0" err="1">
                <a:latin typeface="Grandview" panose="020B0502040204020203" pitchFamily="34" charset="0"/>
              </a:rPr>
              <a:t>Blazin</a:t>
            </a:r>
            <a:r>
              <a:rPr lang="en-US" sz="2000" dirty="0">
                <a:latin typeface="Grandview" panose="020B0502040204020203" pitchFamily="34" charset="0"/>
              </a:rPr>
              <a:t>' Triples; Bonnie and Clyde</a:t>
            </a:r>
            <a:br>
              <a:rPr lang="en-US" sz="2000" dirty="0">
                <a:latin typeface="Grandview" panose="020B0502040204020203" pitchFamily="34" charset="0"/>
              </a:rPr>
            </a:br>
            <a:r>
              <a:rPr lang="en-US" sz="2000" dirty="0">
                <a:latin typeface="Grandview" panose="020B0502040204020203" pitchFamily="34" charset="0"/>
              </a:rPr>
              <a:t>Holdout example: Astro Oink!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2A5CFF9-E046-8BAA-89F5-DA4FD6411A43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693" y="1428539"/>
            <a:ext cx="6052516" cy="3283490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B113701-0FD0-E11A-280A-45FD95441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9074"/>
            <a:ext cx="10515600" cy="5107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b="1" i="0" kern="1200">
                <a:latin typeface="Grandview" panose="020B0502040204020203" pitchFamily="34" charset="0"/>
                <a:ea typeface="+mj-ea"/>
                <a:cs typeface="+mj-cs"/>
              </a:rPr>
              <a:t>Cluster 2: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4FD6D56-2EC7-45A7-EF62-2C79EC715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spc="300">
                <a:latin typeface="Grandview" panose="020B0502040204020203" pitchFamily="34" charset="0"/>
                <a:ea typeface="+mn-ea"/>
                <a:cs typeface="+mn-cs"/>
              </a:rPr>
              <a:t>SECTION NAME HERE ALL CAPS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6D5D2B-BF7E-72A0-6E28-8D25C7AC6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571733-94F1-0047-BD22-F47C1F6CFA90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83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C2976-C116-9A61-B351-B035B0CAC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F201A25-8A96-9532-B212-252910649BFD}"/>
              </a:ext>
            </a:extLst>
          </p:cNvPr>
          <p:cNvSpPr txBox="1"/>
          <p:nvPr/>
        </p:nvSpPr>
        <p:spPr>
          <a:xfrm>
            <a:off x="838200" y="1825625"/>
            <a:ext cx="4952999" cy="4270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594" indent="-228594" defTabSz="914377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>
                <a:latin typeface="Grandview" panose="020B0502040204020203" pitchFamily="34" charset="0"/>
              </a:rPr>
              <a:t>Historical examples: Atomic Meltdown; Aztec Treasure; Black Diamond Deluxe; Black Diamond Platinum; Black Diamond Platinum (9L90C); Black Diamond Platinum (9L9C); Black Diamond SAP; Blazin Gems; Blazin' Ice 45C; Buffy The Vampire Slayer</a:t>
            </a:r>
            <a:br>
              <a:rPr lang="en-US" sz="2000">
                <a:latin typeface="Grandview" panose="020B0502040204020203" pitchFamily="34" charset="0"/>
              </a:rPr>
            </a:br>
            <a:r>
              <a:rPr lang="en-US" sz="2000">
                <a:latin typeface="Grandview" panose="020B0502040204020203" pitchFamily="34" charset="0"/>
              </a:rPr>
              <a:t>Holdout example: 888 Drums Eternity Vue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E12F744-23C6-B8D7-B7F9-3C189AD511B9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15312"/>
            <a:ext cx="5626608" cy="3052435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631D0ED-E2A4-68EB-463E-436EFF80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9074"/>
            <a:ext cx="10515600" cy="5107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b="1" i="0" kern="1200">
                <a:latin typeface="Grandview" panose="020B0502040204020203" pitchFamily="34" charset="0"/>
                <a:ea typeface="+mj-ea"/>
                <a:cs typeface="+mj-cs"/>
              </a:rPr>
              <a:t>Cluster 3: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D151FD-7CC6-623D-8869-62FAD99B9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spc="300">
                <a:latin typeface="Grandview" panose="020B0502040204020203" pitchFamily="34" charset="0"/>
                <a:ea typeface="+mn-ea"/>
                <a:cs typeface="+mn-cs"/>
              </a:rPr>
              <a:t>SECTION NAME HERE ALL CAPS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D4F043-54B5-3A0A-C253-DCC785B6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571733-94F1-0047-BD22-F47C1F6CFA9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16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4CED3-29F1-868D-C9CC-02311E525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26DDF2E-0F3B-FBC0-7E8F-33E87F391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752" y="1298347"/>
            <a:ext cx="6617628" cy="35845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545610-7426-CBE7-9AB9-DE735D4080E2}"/>
              </a:ext>
            </a:extLst>
          </p:cNvPr>
          <p:cNvSpPr txBox="1"/>
          <p:nvPr/>
        </p:nvSpPr>
        <p:spPr>
          <a:xfrm>
            <a:off x="838200" y="1825625"/>
            <a:ext cx="4952999" cy="4270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594" indent="-228594" defTabSz="914377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Grandview" panose="020B0502040204020203" pitchFamily="34" charset="0"/>
              </a:rPr>
              <a:t>Historical examples: Black Diamond - OSL; Black Diamond IL; Black Diamond Platinum 9L90C; Black Diamond Platinum 9L9C; </a:t>
            </a:r>
            <a:r>
              <a:rPr lang="en-US" sz="2000" dirty="0" err="1">
                <a:latin typeface="Grandview" panose="020B0502040204020203" pitchFamily="34" charset="0"/>
              </a:rPr>
              <a:t>Blazin</a:t>
            </a:r>
            <a:r>
              <a:rPr lang="en-US" sz="2000" dirty="0">
                <a:latin typeface="Grandview" panose="020B0502040204020203" pitchFamily="34" charset="0"/>
              </a:rPr>
              <a:t>' Ice NV; Carnival In Rio - OSL; Carnival In Rio IL; Casablanca; Casablanca F1; Cash Machine - OSL</a:t>
            </a:r>
            <a:br>
              <a:rPr lang="en-US" sz="2000" dirty="0">
                <a:latin typeface="Grandview" panose="020B0502040204020203" pitchFamily="34" charset="0"/>
              </a:rPr>
            </a:br>
            <a:r>
              <a:rPr lang="en-US" sz="2000" dirty="0">
                <a:latin typeface="Grandview" panose="020B0502040204020203" pitchFamily="34" charset="0"/>
              </a:rPr>
              <a:t>Holdout example: Cash Machine Lock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1EACDB-DCC9-EAAC-C253-354762683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9074"/>
            <a:ext cx="10515600" cy="5107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b="1" i="0" kern="1200">
                <a:latin typeface="Grandview" panose="020B0502040204020203" pitchFamily="34" charset="0"/>
                <a:ea typeface="+mj-ea"/>
                <a:cs typeface="+mj-cs"/>
              </a:rPr>
              <a:t>Cluster 4: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1A3B37-E14D-DB7D-C36E-5B38A77C3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spc="300">
                <a:latin typeface="Grandview" panose="020B0502040204020203" pitchFamily="34" charset="0"/>
                <a:ea typeface="+mn-ea"/>
                <a:cs typeface="+mn-cs"/>
              </a:rPr>
              <a:t>SECTION NAME HERE ALL CAPS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637184-A5C7-F08E-5563-E4510071D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571733-94F1-0047-BD22-F47C1F6CFA90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A8A05-0B64-9601-1E00-81E727C46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4D1478A-55E1-2757-43EC-9429547A3A5C}"/>
              </a:ext>
            </a:extLst>
          </p:cNvPr>
          <p:cNvSpPr txBox="1"/>
          <p:nvPr/>
        </p:nvSpPr>
        <p:spPr>
          <a:xfrm>
            <a:off x="838200" y="1825625"/>
            <a:ext cx="4952999" cy="4270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594" indent="-228594" defTabSz="914377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>
                <a:latin typeface="Grandview" panose="020B0502040204020203" pitchFamily="34" charset="0"/>
              </a:rPr>
              <a:t>Historical examples: 7 Spins 50; 9 Diamonds; Aztec Banner; Bai Shou Feng Xiang; Bao Gong; Black Diamond; Blazin' Ice; Blazin' Jewels; Blazin' Triples; Bonnie and Clyde</a:t>
            </a:r>
            <a:br>
              <a:rPr lang="en-US" sz="2000">
                <a:latin typeface="Grandview" panose="020B0502040204020203" pitchFamily="34" charset="0"/>
              </a:rPr>
            </a:br>
            <a:r>
              <a:rPr lang="en-US" sz="2000">
                <a:latin typeface="Grandview" panose="020B0502040204020203" pitchFamily="34" charset="0"/>
              </a:rPr>
              <a:t>Holdout example: Astro Oink!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DE00D0-EF26-7732-D4E8-4CA7FE847AF4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682" y="1428539"/>
            <a:ext cx="6114807" cy="2760207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504160E-3549-418B-3CBD-F932E3846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9074"/>
            <a:ext cx="10515600" cy="5107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b="1" i="0" kern="1200">
                <a:latin typeface="Grandview" panose="020B0502040204020203" pitchFamily="34" charset="0"/>
                <a:ea typeface="+mj-ea"/>
                <a:cs typeface="+mj-cs"/>
              </a:rPr>
              <a:t>Cluster 5: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CA0095-4BBD-5C68-5237-5952DC2A8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spc="300">
                <a:latin typeface="Grandview" panose="020B0502040204020203" pitchFamily="34" charset="0"/>
                <a:ea typeface="+mn-ea"/>
                <a:cs typeface="+mn-cs"/>
              </a:rPr>
              <a:t>SECTION NAME HERE ALL CAPS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C8092-7668-C5D2-FD1B-A1785DB6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571733-94F1-0047-BD22-F47C1F6CFA90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5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303EB-22C0-6A23-583A-607F84751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D92FAB9-6565-BDCD-9C2F-3A73AE3F2CA6}"/>
              </a:ext>
            </a:extLst>
          </p:cNvPr>
          <p:cNvSpPr txBox="1"/>
          <p:nvPr/>
        </p:nvSpPr>
        <p:spPr>
          <a:xfrm>
            <a:off x="838200" y="1825625"/>
            <a:ext cx="4952999" cy="4270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594" indent="-228594" defTabSz="914377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>
                <a:latin typeface="Grandview" panose="020B0502040204020203" pitchFamily="34" charset="0"/>
              </a:rPr>
              <a:t>Historical examples: 8X Wild Dragon; Black Diamond Deluxe Signature; Blazin Grand Signature; Blessings of the Moon; Cash Machine Signature; Crystal Star Deluxe Signature; Double Black Diamond Signature; Double Crystal Star Deluxe; Evel Knievel Legend LAP; Gifts of the Sun</a:t>
            </a:r>
            <a:br>
              <a:rPr lang="en-US" sz="2000">
                <a:latin typeface="Grandview" panose="020B0502040204020203" pitchFamily="34" charset="0"/>
              </a:rPr>
            </a:br>
            <a:r>
              <a:rPr lang="en-US" sz="2000">
                <a:latin typeface="Grandview" panose="020B0502040204020203" pitchFamily="34" charset="0"/>
              </a:rPr>
              <a:t>Holdout example: Black Diamond Super Spin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37CD825-2CF5-ABA4-D615-B6D5AD65CB3B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199" y="1561333"/>
            <a:ext cx="6047957" cy="3155474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BB1D12C-CB85-612A-544C-D2B2E0F7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9074"/>
            <a:ext cx="10515600" cy="5107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b="1" i="0" kern="1200">
                <a:latin typeface="Grandview" panose="020B0502040204020203" pitchFamily="34" charset="0"/>
                <a:ea typeface="+mj-ea"/>
                <a:cs typeface="+mj-cs"/>
              </a:rPr>
              <a:t>Cluster 6: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5E3C18-8FD1-E04C-1075-ED2C930A4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spc="300">
                <a:latin typeface="Grandview" panose="020B0502040204020203" pitchFamily="34" charset="0"/>
                <a:ea typeface="+mn-ea"/>
                <a:cs typeface="+mn-cs"/>
              </a:rPr>
              <a:t>SECTION NAME HERE ALL CAPS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FDC946-6DD8-D16C-0C41-171259D4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571733-94F1-0047-BD22-F47C1F6CFA90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57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0B0DD-886A-A11A-5CB0-5EB23C546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752" y="6493087"/>
            <a:ext cx="59526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SECTION NAME HERE ALL CAPS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9E40A-C1B7-52F9-E613-832DB697F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017" y="6493087"/>
            <a:ext cx="76038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2571733-94F1-0047-BD22-F47C1F6CFA90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DA8E1DA-1880-73FA-86B4-3EE8ABE357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0664" y="1307592"/>
            <a:ext cx="10613134" cy="4788409"/>
          </a:xfrm>
        </p:spPr>
        <p:txBody>
          <a:bodyPr/>
          <a:lstStyle/>
          <a:p>
            <a:r>
              <a:rPr lang="en-US" dirty="0"/>
              <a:t>Training the forecasting model.</a:t>
            </a:r>
          </a:p>
          <a:p>
            <a:r>
              <a:rPr lang="en-US" dirty="0"/>
              <a:t>Incremental improvement of the pipeline.</a:t>
            </a:r>
          </a:p>
          <a:p>
            <a:r>
              <a:rPr lang="en-US" dirty="0"/>
              <a:t>Enriching game attribute matrix.</a:t>
            </a: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7DDB6874-02F3-0DEC-4562-E32DE595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9074"/>
            <a:ext cx="10515600" cy="510784"/>
          </a:xfrm>
        </p:spPr>
        <p:txBody>
          <a:bodyPr>
            <a:normAutofit fontScale="90000"/>
          </a:bodyPr>
          <a:lstStyle/>
          <a:p>
            <a:r>
              <a:rPr lang="en-US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423795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5B1E33-46FB-860A-4331-46A05903C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SECTION NAME HERE ALL CAPS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629EDE-4621-5D34-620B-25CBBC3C2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71733-94F1-0047-BD22-F47C1F6CFA90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6BE993-2ED8-06B5-3A81-AB00DDD6A40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825" y="1405001"/>
            <a:ext cx="8540750" cy="427037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46EB753-4848-E7A9-8F8D-4517AF165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Appendix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027200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FFFFF"/>
      </a:lt1>
      <a:dk2>
        <a:srgbClr val="402C85"/>
      </a:dk2>
      <a:lt2>
        <a:srgbClr val="EDF0FF"/>
      </a:lt2>
      <a:accent1>
        <a:srgbClr val="50E3F3"/>
      </a:accent1>
      <a:accent2>
        <a:srgbClr val="F36050"/>
      </a:accent2>
      <a:accent3>
        <a:srgbClr val="FFD157"/>
      </a:accent3>
      <a:accent4>
        <a:srgbClr val="4DE795"/>
      </a:accent4>
      <a:accent5>
        <a:srgbClr val="B250F3"/>
      </a:accent5>
      <a:accent6>
        <a:srgbClr val="6657FF"/>
      </a:accent6>
      <a:hlink>
        <a:srgbClr val="000000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817</Words>
  <Application>Microsoft Office PowerPoint</Application>
  <PresentationFormat>Widescreen</PresentationFormat>
  <Paragraphs>156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Courier New</vt:lpstr>
      <vt:lpstr>Grandview</vt:lpstr>
      <vt:lpstr>1_Office Theme</vt:lpstr>
      <vt:lpstr>Demand Forecast:Clustering Results </vt:lpstr>
      <vt:lpstr>Agenda</vt:lpstr>
      <vt:lpstr>Objectives</vt:lpstr>
      <vt:lpstr>Datasets overview </vt:lpstr>
      <vt:lpstr>Clustering workflow</vt:lpstr>
      <vt:lpstr>Clustering Features overview:</vt:lpstr>
      <vt:lpstr>Clustering results</vt:lpstr>
      <vt:lpstr>Dendrogram of the resulting clusters</vt:lpstr>
      <vt:lpstr>Cluster 1:</vt:lpstr>
      <vt:lpstr>Cluster 2:</vt:lpstr>
      <vt:lpstr>Cluster 3:</vt:lpstr>
      <vt:lpstr>Cluster 4:</vt:lpstr>
      <vt:lpstr>Cluster 5:</vt:lpstr>
      <vt:lpstr>Cluster 6:</vt:lpstr>
      <vt:lpstr>Next steps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Latifi, Soheil</dc:creator>
  <cp:lastModifiedBy>Latifi, Soheil</cp:lastModifiedBy>
  <cp:revision>11</cp:revision>
  <dcterms:created xsi:type="dcterms:W3CDTF">2026-07-07T16:09:45Z</dcterms:created>
  <dcterms:modified xsi:type="dcterms:W3CDTF">2026-07-07T20:10:26Z</dcterms:modified>
</cp:coreProperties>
</file>